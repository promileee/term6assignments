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4" r:id="rId2"/>
    <p:sldId id="293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BCF"/>
    <a:srgbClr val="79B1AC"/>
    <a:srgbClr val="E8F2F1"/>
    <a:srgbClr val="F7F7F7"/>
    <a:srgbClr val="E6E3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7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汉仪旗黑-50简" panose="00020600040101010101" charset="-122"/>
              </a:rPr>
              <a:t>2026/3/25</a:t>
            </a:fld>
            <a:endParaRPr lang="zh-CN" altLang="en-US">
              <a:cs typeface="汉仪旗黑-50简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汉仪旗黑-50简" panose="00020600040101010101" charset="-122"/>
              </a:rPr>
              <a:t>‹#›</a:t>
            </a:fld>
            <a:endParaRPr lang="zh-CN" altLang="en-US">
              <a:cs typeface="汉仪旗黑-50简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旗黑-50简" panose="00020600040101010101" charset="-122"/>
        <a:ea typeface="汉仪旗黑-50简" panose="00020600040101010101" charset="-122"/>
        <a:cs typeface="汉仪旗黑-50简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0"/>
            <a:ext cx="12192000" cy="6863773"/>
            <a:chOff x="0" y="0"/>
            <a:chExt cx="12192000" cy="6863773"/>
          </a:xfrm>
          <a:solidFill>
            <a:srgbClr val="79B1AC"/>
          </a:solidFill>
        </p:grpSpPr>
        <p:sp>
          <p:nvSpPr>
            <p:cNvPr id="8" name="矩形 7"/>
            <p:cNvSpPr/>
            <p:nvPr/>
          </p:nvSpPr>
          <p:spPr>
            <a:xfrm>
              <a:off x="0" y="0"/>
              <a:ext cx="6096000" cy="3429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096000" y="5773"/>
              <a:ext cx="6096000" cy="3429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0" y="3429000"/>
              <a:ext cx="6096000" cy="3429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096000" y="3434773"/>
              <a:ext cx="6096000" cy="3429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0" y="0"/>
            <a:ext cx="12192000" cy="6863773"/>
            <a:chOff x="0" y="0"/>
            <a:chExt cx="12192000" cy="6863773"/>
          </a:xfrm>
          <a:solidFill>
            <a:srgbClr val="E6E3BD"/>
          </a:solidFill>
        </p:grpSpPr>
        <p:sp>
          <p:nvSpPr>
            <p:cNvPr id="13" name="矩形 12"/>
            <p:cNvSpPr/>
            <p:nvPr/>
          </p:nvSpPr>
          <p:spPr>
            <a:xfrm>
              <a:off x="0" y="3429000"/>
              <a:ext cx="3048000" cy="17087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0" y="0"/>
              <a:ext cx="3048000" cy="17087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096000" y="5773"/>
              <a:ext cx="3048000" cy="17087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9144000" y="1726046"/>
              <a:ext cx="3048000" cy="17087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048000" y="5149273"/>
              <a:ext cx="3048000" cy="17087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9144000" y="5155046"/>
              <a:ext cx="3048000" cy="17087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</p:grpSp>
      <p:sp>
        <p:nvSpPr>
          <p:cNvPr id="19" name="矩形: 圆角 18"/>
          <p:cNvSpPr/>
          <p:nvPr userDrawn="1"/>
        </p:nvSpPr>
        <p:spPr>
          <a:xfrm>
            <a:off x="0" y="-5773"/>
            <a:ext cx="12192000" cy="64389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7D89084-40EF-A350-9750-86DB8A8D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71" y="402111"/>
            <a:ext cx="10515600" cy="927598"/>
          </a:xfrm>
        </p:spPr>
        <p:txBody>
          <a:bodyPr>
            <a:normAutofit/>
          </a:bodyPr>
          <a:lstStyle>
            <a:lvl1pPr>
              <a:defRPr sz="3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9089865C-AAD6-3004-984D-5B1EDC684A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1425" y="1708150"/>
            <a:ext cx="9134475" cy="3819525"/>
          </a:xfrm>
        </p:spPr>
        <p:txBody>
          <a:bodyPr/>
          <a:lstStyle>
            <a:lvl1pPr>
              <a:lnSpc>
                <a:spcPct val="120000"/>
              </a:lnSpc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defRPr baseline="0"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fld id="{A7102626-14B9-4C57-B494-8A6040B3822B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defRPr>
            </a:lvl1pPr>
          </a:lstStyle>
          <a:p>
            <a:fld id="{DE537FE4-4E29-4810-84BE-61A422143C4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汉仪旗黑-50简" panose="00020600040101010101" charset="-122"/>
          <a:ea typeface="汉仪旗黑-50简" panose="00020600040101010101" charset="-122"/>
          <a:cs typeface="汉仪旗黑-50简" panose="0002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8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0"/>
            <a:ext cx="12192000" cy="6863080"/>
            <a:chOff x="0" y="0"/>
            <a:chExt cx="19200" cy="10808"/>
          </a:xfrm>
        </p:grpSpPr>
        <p:grpSp>
          <p:nvGrpSpPr>
            <p:cNvPr id="3" name="组合 2"/>
            <p:cNvGrpSpPr/>
            <p:nvPr/>
          </p:nvGrpSpPr>
          <p:grpSpPr>
            <a:xfrm>
              <a:off x="0" y="0"/>
              <a:ext cx="19200" cy="10809"/>
              <a:chOff x="0" y="0"/>
              <a:chExt cx="12192000" cy="6863773"/>
            </a:xfrm>
            <a:solidFill>
              <a:srgbClr val="79B1AC"/>
            </a:solidFill>
          </p:grpSpPr>
          <p:sp>
            <p:nvSpPr>
              <p:cNvPr id="8" name="矩形 7"/>
              <p:cNvSpPr/>
              <p:nvPr/>
            </p:nvSpPr>
            <p:spPr>
              <a:xfrm>
                <a:off x="0" y="0"/>
                <a:ext cx="6096000" cy="3429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096000" y="5773"/>
                <a:ext cx="6096000" cy="3429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0" y="3429000"/>
                <a:ext cx="6096000" cy="3429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6096000" y="3434773"/>
                <a:ext cx="6096000" cy="3429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</p:grpSp>
        <p:sp>
          <p:nvSpPr>
            <p:cNvPr id="21" name="矩形 20"/>
            <p:cNvSpPr/>
            <p:nvPr/>
          </p:nvSpPr>
          <p:spPr>
            <a:xfrm>
              <a:off x="9600" y="5409"/>
              <a:ext cx="4800" cy="2691"/>
            </a:xfrm>
            <a:prstGeom prst="rect">
              <a:avLst/>
            </a:prstGeom>
            <a:solidFill>
              <a:srgbClr val="79B1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0" y="0"/>
              <a:ext cx="19200" cy="10809"/>
              <a:chOff x="0" y="0"/>
              <a:chExt cx="12192000" cy="6863773"/>
            </a:xfrm>
            <a:solidFill>
              <a:srgbClr val="E6E3BD"/>
            </a:solidFill>
          </p:grpSpPr>
          <p:sp>
            <p:nvSpPr>
              <p:cNvPr id="17" name="矩形 16"/>
              <p:cNvSpPr/>
              <p:nvPr/>
            </p:nvSpPr>
            <p:spPr>
              <a:xfrm>
                <a:off x="0" y="3429000"/>
                <a:ext cx="3048000" cy="17087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0" y="0"/>
                <a:ext cx="3048000" cy="17087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096000" y="5773"/>
                <a:ext cx="3048000" cy="17087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9144000" y="1726046"/>
                <a:ext cx="3048000" cy="17087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3048000" y="5149273"/>
                <a:ext cx="3048000" cy="17087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9144000" y="5155046"/>
                <a:ext cx="3048000" cy="170872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0简" panose="00020600040101010101" charset="-122"/>
                  <a:ea typeface="汉仪旗黑-50简" panose="00020600040101010101" charset="-122"/>
                  <a:cs typeface="汉仪旗黑-50简" panose="00020600040101010101" charset="-122"/>
                </a:endParaRPr>
              </a:p>
            </p:txBody>
          </p:sp>
        </p:grpSp>
        <p:sp>
          <p:nvSpPr>
            <p:cNvPr id="23" name="矩形: 圆角 22"/>
            <p:cNvSpPr/>
            <p:nvPr/>
          </p:nvSpPr>
          <p:spPr>
            <a:xfrm>
              <a:off x="502" y="505"/>
              <a:ext cx="18196" cy="978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endParaRPr>
            </a:p>
          </p:txBody>
        </p:sp>
      </p:grpSp>
      <p:sp>
        <p:nvSpPr>
          <p:cNvPr id="34" name="circular-medal-with-star_30921"/>
          <p:cNvSpPr>
            <a:spLocks noChangeAspect="1"/>
          </p:cNvSpPr>
          <p:nvPr/>
        </p:nvSpPr>
        <p:spPr bwMode="auto">
          <a:xfrm>
            <a:off x="4301725" y="1230854"/>
            <a:ext cx="3588550" cy="3582706"/>
          </a:xfrm>
          <a:custGeom>
            <a:avLst/>
            <a:gdLst>
              <a:gd name="connsiteX0" fmla="*/ 303336 w 606862"/>
              <a:gd name="connsiteY0" fmla="*/ 213981 h 605874"/>
              <a:gd name="connsiteX1" fmla="*/ 214283 w 606862"/>
              <a:gd name="connsiteY1" fmla="*/ 302877 h 605874"/>
              <a:gd name="connsiteX2" fmla="*/ 303336 w 606862"/>
              <a:gd name="connsiteY2" fmla="*/ 391681 h 605874"/>
              <a:gd name="connsiteX3" fmla="*/ 392296 w 606862"/>
              <a:gd name="connsiteY3" fmla="*/ 302877 h 605874"/>
              <a:gd name="connsiteX4" fmla="*/ 303336 w 606862"/>
              <a:gd name="connsiteY4" fmla="*/ 213981 h 605874"/>
              <a:gd name="connsiteX5" fmla="*/ 303336 w 606862"/>
              <a:gd name="connsiteY5" fmla="*/ 162441 h 605874"/>
              <a:gd name="connsiteX6" fmla="*/ 443926 w 606862"/>
              <a:gd name="connsiteY6" fmla="*/ 302877 h 605874"/>
              <a:gd name="connsiteX7" fmla="*/ 303336 w 606862"/>
              <a:gd name="connsiteY7" fmla="*/ 443220 h 605874"/>
              <a:gd name="connsiteX8" fmla="*/ 162653 w 606862"/>
              <a:gd name="connsiteY8" fmla="*/ 302877 h 605874"/>
              <a:gd name="connsiteX9" fmla="*/ 303336 w 606862"/>
              <a:gd name="connsiteY9" fmla="*/ 162441 h 605874"/>
              <a:gd name="connsiteX10" fmla="*/ 265827 w 606862"/>
              <a:gd name="connsiteY10" fmla="*/ 51540 h 605874"/>
              <a:gd name="connsiteX11" fmla="*/ 265827 w 606862"/>
              <a:gd name="connsiteY11" fmla="*/ 90195 h 605874"/>
              <a:gd name="connsiteX12" fmla="*/ 247722 w 606862"/>
              <a:gd name="connsiteY12" fmla="*/ 114667 h 605874"/>
              <a:gd name="connsiteX13" fmla="*/ 210303 w 606862"/>
              <a:gd name="connsiteY13" fmla="*/ 130148 h 605874"/>
              <a:gd name="connsiteX14" fmla="*/ 179385 w 606862"/>
              <a:gd name="connsiteY14" fmla="*/ 126347 h 605874"/>
              <a:gd name="connsiteX15" fmla="*/ 152273 w 606862"/>
              <a:gd name="connsiteY15" fmla="*/ 99279 h 605874"/>
              <a:gd name="connsiteX16" fmla="*/ 99441 w 606862"/>
              <a:gd name="connsiteY16" fmla="*/ 152024 h 605874"/>
              <a:gd name="connsiteX17" fmla="*/ 126553 w 606862"/>
              <a:gd name="connsiteY17" fmla="*/ 179185 h 605874"/>
              <a:gd name="connsiteX18" fmla="*/ 130360 w 606862"/>
              <a:gd name="connsiteY18" fmla="*/ 210147 h 605874"/>
              <a:gd name="connsiteX19" fmla="*/ 114854 w 606862"/>
              <a:gd name="connsiteY19" fmla="*/ 247411 h 605874"/>
              <a:gd name="connsiteX20" fmla="*/ 90342 w 606862"/>
              <a:gd name="connsiteY20" fmla="*/ 265487 h 605874"/>
              <a:gd name="connsiteX21" fmla="*/ 51624 w 606862"/>
              <a:gd name="connsiteY21" fmla="*/ 265487 h 605874"/>
              <a:gd name="connsiteX22" fmla="*/ 51624 w 606862"/>
              <a:gd name="connsiteY22" fmla="*/ 340295 h 605874"/>
              <a:gd name="connsiteX23" fmla="*/ 90342 w 606862"/>
              <a:gd name="connsiteY23" fmla="*/ 340295 h 605874"/>
              <a:gd name="connsiteX24" fmla="*/ 114854 w 606862"/>
              <a:gd name="connsiteY24" fmla="*/ 358278 h 605874"/>
              <a:gd name="connsiteX25" fmla="*/ 130360 w 606862"/>
              <a:gd name="connsiteY25" fmla="*/ 395635 h 605874"/>
              <a:gd name="connsiteX26" fmla="*/ 126553 w 606862"/>
              <a:gd name="connsiteY26" fmla="*/ 426504 h 605874"/>
              <a:gd name="connsiteX27" fmla="*/ 99441 w 606862"/>
              <a:gd name="connsiteY27" fmla="*/ 453571 h 605874"/>
              <a:gd name="connsiteX28" fmla="*/ 152273 w 606862"/>
              <a:gd name="connsiteY28" fmla="*/ 506409 h 605874"/>
              <a:gd name="connsiteX29" fmla="*/ 179477 w 606862"/>
              <a:gd name="connsiteY29" fmla="*/ 479341 h 605874"/>
              <a:gd name="connsiteX30" fmla="*/ 210489 w 606862"/>
              <a:gd name="connsiteY30" fmla="*/ 475448 h 605874"/>
              <a:gd name="connsiteX31" fmla="*/ 247814 w 606862"/>
              <a:gd name="connsiteY31" fmla="*/ 490929 h 605874"/>
              <a:gd name="connsiteX32" fmla="*/ 265920 w 606862"/>
              <a:gd name="connsiteY32" fmla="*/ 515401 h 605874"/>
              <a:gd name="connsiteX33" fmla="*/ 265920 w 606862"/>
              <a:gd name="connsiteY33" fmla="*/ 554056 h 605874"/>
              <a:gd name="connsiteX34" fmla="*/ 340849 w 606862"/>
              <a:gd name="connsiteY34" fmla="*/ 554056 h 605874"/>
              <a:gd name="connsiteX35" fmla="*/ 340849 w 606862"/>
              <a:gd name="connsiteY35" fmla="*/ 515401 h 605874"/>
              <a:gd name="connsiteX36" fmla="*/ 358862 w 606862"/>
              <a:gd name="connsiteY36" fmla="*/ 490929 h 605874"/>
              <a:gd name="connsiteX37" fmla="*/ 396280 w 606862"/>
              <a:gd name="connsiteY37" fmla="*/ 475448 h 605874"/>
              <a:gd name="connsiteX38" fmla="*/ 427199 w 606862"/>
              <a:gd name="connsiteY38" fmla="*/ 479341 h 605874"/>
              <a:gd name="connsiteX39" fmla="*/ 454311 w 606862"/>
              <a:gd name="connsiteY39" fmla="*/ 506409 h 605874"/>
              <a:gd name="connsiteX40" fmla="*/ 507235 w 606862"/>
              <a:gd name="connsiteY40" fmla="*/ 453479 h 605874"/>
              <a:gd name="connsiteX41" fmla="*/ 480123 w 606862"/>
              <a:gd name="connsiteY41" fmla="*/ 426411 h 605874"/>
              <a:gd name="connsiteX42" fmla="*/ 476223 w 606862"/>
              <a:gd name="connsiteY42" fmla="*/ 395543 h 605874"/>
              <a:gd name="connsiteX43" fmla="*/ 491729 w 606862"/>
              <a:gd name="connsiteY43" fmla="*/ 358185 h 605874"/>
              <a:gd name="connsiteX44" fmla="*/ 516241 w 606862"/>
              <a:gd name="connsiteY44" fmla="*/ 340109 h 605874"/>
              <a:gd name="connsiteX45" fmla="*/ 554959 w 606862"/>
              <a:gd name="connsiteY45" fmla="*/ 340109 h 605874"/>
              <a:gd name="connsiteX46" fmla="*/ 554959 w 606862"/>
              <a:gd name="connsiteY46" fmla="*/ 265395 h 605874"/>
              <a:gd name="connsiteX47" fmla="*/ 516241 w 606862"/>
              <a:gd name="connsiteY47" fmla="*/ 265395 h 605874"/>
              <a:gd name="connsiteX48" fmla="*/ 491729 w 606862"/>
              <a:gd name="connsiteY48" fmla="*/ 247318 h 605874"/>
              <a:gd name="connsiteX49" fmla="*/ 476223 w 606862"/>
              <a:gd name="connsiteY49" fmla="*/ 209961 h 605874"/>
              <a:gd name="connsiteX50" fmla="*/ 480123 w 606862"/>
              <a:gd name="connsiteY50" fmla="*/ 179093 h 605874"/>
              <a:gd name="connsiteX51" fmla="*/ 507235 w 606862"/>
              <a:gd name="connsiteY51" fmla="*/ 152024 h 605874"/>
              <a:gd name="connsiteX52" fmla="*/ 454311 w 606862"/>
              <a:gd name="connsiteY52" fmla="*/ 99279 h 605874"/>
              <a:gd name="connsiteX53" fmla="*/ 427106 w 606862"/>
              <a:gd name="connsiteY53" fmla="*/ 126347 h 605874"/>
              <a:gd name="connsiteX54" fmla="*/ 396187 w 606862"/>
              <a:gd name="connsiteY54" fmla="*/ 130148 h 605874"/>
              <a:gd name="connsiteX55" fmla="*/ 358769 w 606862"/>
              <a:gd name="connsiteY55" fmla="*/ 114667 h 605874"/>
              <a:gd name="connsiteX56" fmla="*/ 340664 w 606862"/>
              <a:gd name="connsiteY56" fmla="*/ 90195 h 605874"/>
              <a:gd name="connsiteX57" fmla="*/ 340664 w 606862"/>
              <a:gd name="connsiteY57" fmla="*/ 51540 h 605874"/>
              <a:gd name="connsiteX58" fmla="*/ 240015 w 606862"/>
              <a:gd name="connsiteY58" fmla="*/ 0 h 605874"/>
              <a:gd name="connsiteX59" fmla="*/ 366476 w 606862"/>
              <a:gd name="connsiteY59" fmla="*/ 0 h 605874"/>
              <a:gd name="connsiteX60" fmla="*/ 392288 w 606862"/>
              <a:gd name="connsiteY60" fmla="*/ 25862 h 605874"/>
              <a:gd name="connsiteX61" fmla="*/ 392288 w 606862"/>
              <a:gd name="connsiteY61" fmla="*/ 72211 h 605874"/>
              <a:gd name="connsiteX62" fmla="*/ 403987 w 606862"/>
              <a:gd name="connsiteY62" fmla="*/ 77403 h 605874"/>
              <a:gd name="connsiteX63" fmla="*/ 436298 w 606862"/>
              <a:gd name="connsiteY63" fmla="*/ 45144 h 605874"/>
              <a:gd name="connsiteX64" fmla="*/ 472416 w 606862"/>
              <a:gd name="connsiteY64" fmla="*/ 45144 h 605874"/>
              <a:gd name="connsiteX65" fmla="*/ 561459 w 606862"/>
              <a:gd name="connsiteY65" fmla="*/ 133948 h 605874"/>
              <a:gd name="connsiteX66" fmla="*/ 561459 w 606862"/>
              <a:gd name="connsiteY66" fmla="*/ 170101 h 605874"/>
              <a:gd name="connsiteX67" fmla="*/ 529147 w 606862"/>
              <a:gd name="connsiteY67" fmla="*/ 202360 h 605874"/>
              <a:gd name="connsiteX68" fmla="*/ 534347 w 606862"/>
              <a:gd name="connsiteY68" fmla="*/ 213947 h 605874"/>
              <a:gd name="connsiteX69" fmla="*/ 580771 w 606862"/>
              <a:gd name="connsiteY69" fmla="*/ 213947 h 605874"/>
              <a:gd name="connsiteX70" fmla="*/ 606862 w 606862"/>
              <a:gd name="connsiteY70" fmla="*/ 239625 h 605874"/>
              <a:gd name="connsiteX71" fmla="*/ 606862 w 606862"/>
              <a:gd name="connsiteY71" fmla="*/ 366065 h 605874"/>
              <a:gd name="connsiteX72" fmla="*/ 580957 w 606862"/>
              <a:gd name="connsiteY72" fmla="*/ 391927 h 605874"/>
              <a:gd name="connsiteX73" fmla="*/ 534533 w 606862"/>
              <a:gd name="connsiteY73" fmla="*/ 391927 h 605874"/>
              <a:gd name="connsiteX74" fmla="*/ 529333 w 606862"/>
              <a:gd name="connsiteY74" fmla="*/ 403515 h 605874"/>
              <a:gd name="connsiteX75" fmla="*/ 561644 w 606862"/>
              <a:gd name="connsiteY75" fmla="*/ 435773 h 605874"/>
              <a:gd name="connsiteX76" fmla="*/ 561644 w 606862"/>
              <a:gd name="connsiteY76" fmla="*/ 471926 h 605874"/>
              <a:gd name="connsiteX77" fmla="*/ 472695 w 606862"/>
              <a:gd name="connsiteY77" fmla="*/ 560730 h 605874"/>
              <a:gd name="connsiteX78" fmla="*/ 436484 w 606862"/>
              <a:gd name="connsiteY78" fmla="*/ 560730 h 605874"/>
              <a:gd name="connsiteX79" fmla="*/ 404172 w 606862"/>
              <a:gd name="connsiteY79" fmla="*/ 528471 h 605874"/>
              <a:gd name="connsiteX80" fmla="*/ 392566 w 606862"/>
              <a:gd name="connsiteY80" fmla="*/ 533662 h 605874"/>
              <a:gd name="connsiteX81" fmla="*/ 392566 w 606862"/>
              <a:gd name="connsiteY81" fmla="*/ 580011 h 605874"/>
              <a:gd name="connsiteX82" fmla="*/ 366661 w 606862"/>
              <a:gd name="connsiteY82" fmla="*/ 605874 h 605874"/>
              <a:gd name="connsiteX83" fmla="*/ 240201 w 606862"/>
              <a:gd name="connsiteY83" fmla="*/ 605874 h 605874"/>
              <a:gd name="connsiteX84" fmla="*/ 214296 w 606862"/>
              <a:gd name="connsiteY84" fmla="*/ 580011 h 605874"/>
              <a:gd name="connsiteX85" fmla="*/ 214296 w 606862"/>
              <a:gd name="connsiteY85" fmla="*/ 533662 h 605874"/>
              <a:gd name="connsiteX86" fmla="*/ 202690 w 606862"/>
              <a:gd name="connsiteY86" fmla="*/ 528471 h 605874"/>
              <a:gd name="connsiteX87" fmla="*/ 170378 w 606862"/>
              <a:gd name="connsiteY87" fmla="*/ 560730 h 605874"/>
              <a:gd name="connsiteX88" fmla="*/ 134167 w 606862"/>
              <a:gd name="connsiteY88" fmla="*/ 560730 h 605874"/>
              <a:gd name="connsiteX89" fmla="*/ 45218 w 606862"/>
              <a:gd name="connsiteY89" fmla="*/ 471926 h 605874"/>
              <a:gd name="connsiteX90" fmla="*/ 37418 w 606862"/>
              <a:gd name="connsiteY90" fmla="*/ 453850 h 605874"/>
              <a:gd name="connsiteX91" fmla="*/ 45218 w 606862"/>
              <a:gd name="connsiteY91" fmla="*/ 435773 h 605874"/>
              <a:gd name="connsiteX92" fmla="*/ 77529 w 606862"/>
              <a:gd name="connsiteY92" fmla="*/ 403515 h 605874"/>
              <a:gd name="connsiteX93" fmla="*/ 72329 w 606862"/>
              <a:gd name="connsiteY93" fmla="*/ 391927 h 605874"/>
              <a:gd name="connsiteX94" fmla="*/ 25905 w 606862"/>
              <a:gd name="connsiteY94" fmla="*/ 391927 h 605874"/>
              <a:gd name="connsiteX95" fmla="*/ 0 w 606862"/>
              <a:gd name="connsiteY95" fmla="*/ 366065 h 605874"/>
              <a:gd name="connsiteX96" fmla="*/ 0 w 606862"/>
              <a:gd name="connsiteY96" fmla="*/ 239810 h 605874"/>
              <a:gd name="connsiteX97" fmla="*/ 25905 w 606862"/>
              <a:gd name="connsiteY97" fmla="*/ 213947 h 605874"/>
              <a:gd name="connsiteX98" fmla="*/ 72144 w 606862"/>
              <a:gd name="connsiteY98" fmla="*/ 213947 h 605874"/>
              <a:gd name="connsiteX99" fmla="*/ 77343 w 606862"/>
              <a:gd name="connsiteY99" fmla="*/ 202360 h 605874"/>
              <a:gd name="connsiteX100" fmla="*/ 45032 w 606862"/>
              <a:gd name="connsiteY100" fmla="*/ 170101 h 605874"/>
              <a:gd name="connsiteX101" fmla="*/ 37233 w 606862"/>
              <a:gd name="connsiteY101" fmla="*/ 152024 h 605874"/>
              <a:gd name="connsiteX102" fmla="*/ 45032 w 606862"/>
              <a:gd name="connsiteY102" fmla="*/ 133948 h 605874"/>
              <a:gd name="connsiteX103" fmla="*/ 134074 w 606862"/>
              <a:gd name="connsiteY103" fmla="*/ 45144 h 605874"/>
              <a:gd name="connsiteX104" fmla="*/ 170192 w 606862"/>
              <a:gd name="connsiteY104" fmla="*/ 45144 h 605874"/>
              <a:gd name="connsiteX105" fmla="*/ 202504 w 606862"/>
              <a:gd name="connsiteY105" fmla="*/ 77403 h 605874"/>
              <a:gd name="connsiteX106" fmla="*/ 214203 w 606862"/>
              <a:gd name="connsiteY106" fmla="*/ 72211 h 605874"/>
              <a:gd name="connsiteX107" fmla="*/ 214203 w 606862"/>
              <a:gd name="connsiteY107" fmla="*/ 25862 h 605874"/>
              <a:gd name="connsiteX108" fmla="*/ 240015 w 606862"/>
              <a:gd name="connsiteY108" fmla="*/ 0 h 605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606862" h="605874">
                <a:moveTo>
                  <a:pt x="303336" y="213981"/>
                </a:moveTo>
                <a:cubicBezTo>
                  <a:pt x="254306" y="213981"/>
                  <a:pt x="214283" y="253933"/>
                  <a:pt x="214283" y="302877"/>
                </a:cubicBezTo>
                <a:cubicBezTo>
                  <a:pt x="214283" y="351821"/>
                  <a:pt x="254306" y="391681"/>
                  <a:pt x="303336" y="391681"/>
                </a:cubicBezTo>
                <a:cubicBezTo>
                  <a:pt x="352366" y="391681"/>
                  <a:pt x="392296" y="351821"/>
                  <a:pt x="392296" y="302877"/>
                </a:cubicBezTo>
                <a:cubicBezTo>
                  <a:pt x="392296" y="253933"/>
                  <a:pt x="352366" y="213981"/>
                  <a:pt x="303336" y="213981"/>
                </a:cubicBezTo>
                <a:close/>
                <a:moveTo>
                  <a:pt x="303336" y="162441"/>
                </a:moveTo>
                <a:cubicBezTo>
                  <a:pt x="380781" y="162441"/>
                  <a:pt x="443926" y="225475"/>
                  <a:pt x="443926" y="302877"/>
                </a:cubicBezTo>
                <a:cubicBezTo>
                  <a:pt x="443926" y="380186"/>
                  <a:pt x="380781" y="443220"/>
                  <a:pt x="303336" y="443220"/>
                </a:cubicBezTo>
                <a:cubicBezTo>
                  <a:pt x="225798" y="443220"/>
                  <a:pt x="162653" y="380094"/>
                  <a:pt x="162653" y="302877"/>
                </a:cubicBezTo>
                <a:cubicBezTo>
                  <a:pt x="162653" y="225568"/>
                  <a:pt x="225798" y="162441"/>
                  <a:pt x="303336" y="162441"/>
                </a:cubicBezTo>
                <a:close/>
                <a:moveTo>
                  <a:pt x="265827" y="51540"/>
                </a:moveTo>
                <a:lnTo>
                  <a:pt x="265827" y="90195"/>
                </a:lnTo>
                <a:cubicBezTo>
                  <a:pt x="265827" y="101875"/>
                  <a:pt x="258028" y="112072"/>
                  <a:pt x="247722" y="114667"/>
                </a:cubicBezTo>
                <a:cubicBezTo>
                  <a:pt x="234815" y="118560"/>
                  <a:pt x="222002" y="123752"/>
                  <a:pt x="210303" y="130148"/>
                </a:cubicBezTo>
                <a:cubicBezTo>
                  <a:pt x="200090" y="135339"/>
                  <a:pt x="188391" y="134134"/>
                  <a:pt x="179385" y="126347"/>
                </a:cubicBezTo>
                <a:lnTo>
                  <a:pt x="152273" y="99279"/>
                </a:lnTo>
                <a:lnTo>
                  <a:pt x="99441" y="152024"/>
                </a:lnTo>
                <a:lnTo>
                  <a:pt x="126553" y="179185"/>
                </a:lnTo>
                <a:cubicBezTo>
                  <a:pt x="134167" y="186879"/>
                  <a:pt x="136767" y="199857"/>
                  <a:pt x="130360" y="210147"/>
                </a:cubicBezTo>
                <a:cubicBezTo>
                  <a:pt x="123954" y="221641"/>
                  <a:pt x="118754" y="234619"/>
                  <a:pt x="114854" y="247411"/>
                </a:cubicBezTo>
                <a:cubicBezTo>
                  <a:pt x="111048" y="257701"/>
                  <a:pt x="102041" y="265487"/>
                  <a:pt x="90342" y="265487"/>
                </a:cubicBezTo>
                <a:lnTo>
                  <a:pt x="51624" y="265487"/>
                </a:lnTo>
                <a:lnTo>
                  <a:pt x="51624" y="340295"/>
                </a:lnTo>
                <a:lnTo>
                  <a:pt x="90342" y="340295"/>
                </a:lnTo>
                <a:cubicBezTo>
                  <a:pt x="102041" y="340295"/>
                  <a:pt x="112255" y="348081"/>
                  <a:pt x="114854" y="358278"/>
                </a:cubicBezTo>
                <a:cubicBezTo>
                  <a:pt x="118754" y="371163"/>
                  <a:pt x="123954" y="384048"/>
                  <a:pt x="130360" y="395635"/>
                </a:cubicBezTo>
                <a:cubicBezTo>
                  <a:pt x="135560" y="405925"/>
                  <a:pt x="134353" y="417512"/>
                  <a:pt x="126553" y="426504"/>
                </a:cubicBezTo>
                <a:lnTo>
                  <a:pt x="99441" y="453571"/>
                </a:lnTo>
                <a:lnTo>
                  <a:pt x="152273" y="506409"/>
                </a:lnTo>
                <a:lnTo>
                  <a:pt x="179477" y="479341"/>
                </a:lnTo>
                <a:cubicBezTo>
                  <a:pt x="187184" y="471648"/>
                  <a:pt x="200183" y="469052"/>
                  <a:pt x="210489" y="475448"/>
                </a:cubicBezTo>
                <a:cubicBezTo>
                  <a:pt x="222002" y="481937"/>
                  <a:pt x="235001" y="487128"/>
                  <a:pt x="247814" y="490929"/>
                </a:cubicBezTo>
                <a:cubicBezTo>
                  <a:pt x="258121" y="494729"/>
                  <a:pt x="265920" y="503814"/>
                  <a:pt x="265920" y="515401"/>
                </a:cubicBezTo>
                <a:lnTo>
                  <a:pt x="265920" y="554056"/>
                </a:lnTo>
                <a:lnTo>
                  <a:pt x="340849" y="554056"/>
                </a:lnTo>
                <a:lnTo>
                  <a:pt x="340849" y="515401"/>
                </a:lnTo>
                <a:cubicBezTo>
                  <a:pt x="340849" y="503814"/>
                  <a:pt x="348649" y="493524"/>
                  <a:pt x="358862" y="490929"/>
                </a:cubicBezTo>
                <a:cubicBezTo>
                  <a:pt x="371768" y="487128"/>
                  <a:pt x="384674" y="481937"/>
                  <a:pt x="396280" y="475448"/>
                </a:cubicBezTo>
                <a:cubicBezTo>
                  <a:pt x="406586" y="470257"/>
                  <a:pt x="418193" y="471555"/>
                  <a:pt x="427199" y="479341"/>
                </a:cubicBezTo>
                <a:lnTo>
                  <a:pt x="454311" y="506409"/>
                </a:lnTo>
                <a:lnTo>
                  <a:pt x="507235" y="453479"/>
                </a:lnTo>
                <a:lnTo>
                  <a:pt x="480123" y="426411"/>
                </a:lnTo>
                <a:cubicBezTo>
                  <a:pt x="472416" y="418717"/>
                  <a:pt x="469817" y="405739"/>
                  <a:pt x="476223" y="395543"/>
                </a:cubicBezTo>
                <a:cubicBezTo>
                  <a:pt x="482723" y="384048"/>
                  <a:pt x="487922" y="371070"/>
                  <a:pt x="491729" y="358185"/>
                </a:cubicBezTo>
                <a:cubicBezTo>
                  <a:pt x="495536" y="347896"/>
                  <a:pt x="504635" y="340109"/>
                  <a:pt x="516241" y="340109"/>
                </a:cubicBezTo>
                <a:lnTo>
                  <a:pt x="554959" y="340109"/>
                </a:lnTo>
                <a:lnTo>
                  <a:pt x="554959" y="265395"/>
                </a:lnTo>
                <a:lnTo>
                  <a:pt x="516241" y="265395"/>
                </a:lnTo>
                <a:cubicBezTo>
                  <a:pt x="504635" y="265395"/>
                  <a:pt x="494329" y="257608"/>
                  <a:pt x="491729" y="247318"/>
                </a:cubicBezTo>
                <a:cubicBezTo>
                  <a:pt x="487922" y="234433"/>
                  <a:pt x="482723" y="221641"/>
                  <a:pt x="476223" y="209961"/>
                </a:cubicBezTo>
                <a:cubicBezTo>
                  <a:pt x="471024" y="199764"/>
                  <a:pt x="472324" y="188084"/>
                  <a:pt x="480123" y="179093"/>
                </a:cubicBezTo>
                <a:lnTo>
                  <a:pt x="507235" y="152024"/>
                </a:lnTo>
                <a:lnTo>
                  <a:pt x="454311" y="99279"/>
                </a:lnTo>
                <a:lnTo>
                  <a:pt x="427106" y="126347"/>
                </a:lnTo>
                <a:cubicBezTo>
                  <a:pt x="419400" y="133948"/>
                  <a:pt x="406401" y="136544"/>
                  <a:pt x="396187" y="130148"/>
                </a:cubicBezTo>
                <a:cubicBezTo>
                  <a:pt x="384674" y="123752"/>
                  <a:pt x="371675" y="118560"/>
                  <a:pt x="358769" y="114667"/>
                </a:cubicBezTo>
                <a:cubicBezTo>
                  <a:pt x="348463" y="110867"/>
                  <a:pt x="340664" y="101875"/>
                  <a:pt x="340664" y="90195"/>
                </a:cubicBezTo>
                <a:lnTo>
                  <a:pt x="340664" y="51540"/>
                </a:lnTo>
                <a:close/>
                <a:moveTo>
                  <a:pt x="240015" y="0"/>
                </a:moveTo>
                <a:lnTo>
                  <a:pt x="366476" y="0"/>
                </a:lnTo>
                <a:cubicBezTo>
                  <a:pt x="380682" y="0"/>
                  <a:pt x="392288" y="11587"/>
                  <a:pt x="392288" y="25862"/>
                </a:cubicBezTo>
                <a:lnTo>
                  <a:pt x="392288" y="72211"/>
                </a:lnTo>
                <a:cubicBezTo>
                  <a:pt x="396187" y="73509"/>
                  <a:pt x="400087" y="74807"/>
                  <a:pt x="403987" y="77403"/>
                </a:cubicBezTo>
                <a:lnTo>
                  <a:pt x="436298" y="45144"/>
                </a:lnTo>
                <a:cubicBezTo>
                  <a:pt x="446512" y="34854"/>
                  <a:pt x="462110" y="34854"/>
                  <a:pt x="472416" y="45144"/>
                </a:cubicBezTo>
                <a:lnTo>
                  <a:pt x="561459" y="133948"/>
                </a:lnTo>
                <a:cubicBezTo>
                  <a:pt x="571672" y="144238"/>
                  <a:pt x="571672" y="159811"/>
                  <a:pt x="561459" y="170101"/>
                </a:cubicBezTo>
                <a:lnTo>
                  <a:pt x="529147" y="202360"/>
                </a:lnTo>
                <a:cubicBezTo>
                  <a:pt x="530447" y="206161"/>
                  <a:pt x="533047" y="210147"/>
                  <a:pt x="534347" y="213947"/>
                </a:cubicBezTo>
                <a:lnTo>
                  <a:pt x="580771" y="213947"/>
                </a:lnTo>
                <a:cubicBezTo>
                  <a:pt x="594977" y="213947"/>
                  <a:pt x="606583" y="225442"/>
                  <a:pt x="606862" y="239625"/>
                </a:cubicBezTo>
                <a:lnTo>
                  <a:pt x="606862" y="366065"/>
                </a:lnTo>
                <a:cubicBezTo>
                  <a:pt x="606862" y="380340"/>
                  <a:pt x="595256" y="391927"/>
                  <a:pt x="580957" y="391927"/>
                </a:cubicBezTo>
                <a:lnTo>
                  <a:pt x="534533" y="391927"/>
                </a:lnTo>
                <a:cubicBezTo>
                  <a:pt x="533233" y="395728"/>
                  <a:pt x="531933" y="399714"/>
                  <a:pt x="529333" y="403515"/>
                </a:cubicBezTo>
                <a:lnTo>
                  <a:pt x="561644" y="435773"/>
                </a:lnTo>
                <a:cubicBezTo>
                  <a:pt x="571951" y="446063"/>
                  <a:pt x="571951" y="461636"/>
                  <a:pt x="561644" y="471926"/>
                </a:cubicBezTo>
                <a:lnTo>
                  <a:pt x="472695" y="560730"/>
                </a:lnTo>
                <a:cubicBezTo>
                  <a:pt x="462389" y="571020"/>
                  <a:pt x="446790" y="571020"/>
                  <a:pt x="436484" y="560730"/>
                </a:cubicBezTo>
                <a:lnTo>
                  <a:pt x="404172" y="528471"/>
                </a:lnTo>
                <a:cubicBezTo>
                  <a:pt x="400366" y="529862"/>
                  <a:pt x="396373" y="532457"/>
                  <a:pt x="392566" y="533662"/>
                </a:cubicBezTo>
                <a:lnTo>
                  <a:pt x="392566" y="580011"/>
                </a:lnTo>
                <a:cubicBezTo>
                  <a:pt x="392566" y="594287"/>
                  <a:pt x="380960" y="605874"/>
                  <a:pt x="366661" y="605874"/>
                </a:cubicBezTo>
                <a:lnTo>
                  <a:pt x="240201" y="605874"/>
                </a:lnTo>
                <a:cubicBezTo>
                  <a:pt x="225902" y="605874"/>
                  <a:pt x="214296" y="594287"/>
                  <a:pt x="214296" y="580011"/>
                </a:cubicBezTo>
                <a:lnTo>
                  <a:pt x="214296" y="533662"/>
                </a:lnTo>
                <a:cubicBezTo>
                  <a:pt x="210489" y="532365"/>
                  <a:pt x="206497" y="531067"/>
                  <a:pt x="202690" y="528471"/>
                </a:cubicBezTo>
                <a:lnTo>
                  <a:pt x="170378" y="560730"/>
                </a:lnTo>
                <a:cubicBezTo>
                  <a:pt x="160072" y="571020"/>
                  <a:pt x="144473" y="571020"/>
                  <a:pt x="134167" y="560730"/>
                </a:cubicBezTo>
                <a:lnTo>
                  <a:pt x="45218" y="471926"/>
                </a:lnTo>
                <a:cubicBezTo>
                  <a:pt x="40018" y="466735"/>
                  <a:pt x="37418" y="460246"/>
                  <a:pt x="37418" y="453850"/>
                </a:cubicBezTo>
                <a:cubicBezTo>
                  <a:pt x="37418" y="447453"/>
                  <a:pt x="40018" y="440965"/>
                  <a:pt x="45218" y="435773"/>
                </a:cubicBezTo>
                <a:lnTo>
                  <a:pt x="77529" y="403515"/>
                </a:lnTo>
                <a:cubicBezTo>
                  <a:pt x="76136" y="399714"/>
                  <a:pt x="73537" y="395728"/>
                  <a:pt x="72329" y="391927"/>
                </a:cubicBezTo>
                <a:lnTo>
                  <a:pt x="25905" y="391927"/>
                </a:lnTo>
                <a:cubicBezTo>
                  <a:pt x="11606" y="391927"/>
                  <a:pt x="0" y="380340"/>
                  <a:pt x="0" y="366065"/>
                </a:cubicBezTo>
                <a:lnTo>
                  <a:pt x="0" y="239810"/>
                </a:lnTo>
                <a:cubicBezTo>
                  <a:pt x="0" y="225534"/>
                  <a:pt x="11606" y="213947"/>
                  <a:pt x="25905" y="213947"/>
                </a:cubicBezTo>
                <a:lnTo>
                  <a:pt x="72144" y="213947"/>
                </a:lnTo>
                <a:cubicBezTo>
                  <a:pt x="73537" y="210147"/>
                  <a:pt x="74744" y="206161"/>
                  <a:pt x="77343" y="202360"/>
                </a:cubicBezTo>
                <a:lnTo>
                  <a:pt x="45032" y="170101"/>
                </a:lnTo>
                <a:cubicBezTo>
                  <a:pt x="39832" y="164910"/>
                  <a:pt x="37233" y="158421"/>
                  <a:pt x="37233" y="152024"/>
                </a:cubicBezTo>
                <a:cubicBezTo>
                  <a:pt x="37233" y="145628"/>
                  <a:pt x="39832" y="139139"/>
                  <a:pt x="45032" y="133948"/>
                </a:cubicBezTo>
                <a:lnTo>
                  <a:pt x="134074" y="45144"/>
                </a:lnTo>
                <a:cubicBezTo>
                  <a:pt x="144380" y="34854"/>
                  <a:pt x="159979" y="34854"/>
                  <a:pt x="170192" y="45144"/>
                </a:cubicBezTo>
                <a:lnTo>
                  <a:pt x="202504" y="77403"/>
                </a:lnTo>
                <a:cubicBezTo>
                  <a:pt x="206404" y="76012"/>
                  <a:pt x="210303" y="73417"/>
                  <a:pt x="214203" y="72211"/>
                </a:cubicBezTo>
                <a:lnTo>
                  <a:pt x="214203" y="25862"/>
                </a:lnTo>
                <a:cubicBezTo>
                  <a:pt x="214203" y="11587"/>
                  <a:pt x="225809" y="0"/>
                  <a:pt x="240015" y="0"/>
                </a:cubicBezTo>
                <a:close/>
              </a:path>
            </a:pathLst>
          </a:custGeom>
          <a:solidFill>
            <a:srgbClr val="EEF5F5"/>
          </a:solidFill>
          <a:ln>
            <a:solidFill>
              <a:srgbClr val="E8F2F1"/>
            </a:solidFill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79B1AC"/>
              </a:solidFill>
              <a:effectLst/>
              <a:uLnTx/>
              <a:uFillTx/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318655" y="5149273"/>
            <a:ext cx="11554691" cy="1387763"/>
          </a:xfrm>
          <a:prstGeom prst="roundRect">
            <a:avLst>
              <a:gd name="adj" fmla="val 0"/>
            </a:avLst>
          </a:prstGeom>
          <a:solidFill>
            <a:srgbClr val="79B1AC">
              <a:alpha val="1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469380" y="5723739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C9E98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rPr>
              <a:t>指导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C9E98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rPr>
              <a:t>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C9E98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rPr>
              <a:t>夏侯唐凡、王粤声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216150" y="5723739"/>
            <a:ext cx="1753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C9E98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rPr>
              <a:t>学生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C9E98"/>
                </a:solidFill>
                <a:effectLst/>
                <a:uLnTx/>
                <a:uFillTx/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rPr>
              <a:t>/</a:t>
            </a:r>
            <a:r>
              <a:rPr lang="zh-CN" altLang="en-US" dirty="0">
                <a:solidFill>
                  <a:srgbClr val="5C9E98"/>
                </a:solidFill>
                <a:latin typeface="汉仪旗黑-50简" panose="00020600040101010101" charset="-122"/>
                <a:ea typeface="汉仪旗黑-50简" panose="00020600040101010101" charset="-122"/>
                <a:cs typeface="汉仪旗黑-50简" panose="00020600040101010101" charset="-122"/>
              </a:rPr>
              <a:t>王仁嘉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C9E98"/>
              </a:solidFill>
              <a:effectLst/>
              <a:uLnTx/>
              <a:uFillTx/>
              <a:latin typeface="汉仪旗黑-50简" panose="00020600040101010101" charset="-122"/>
              <a:ea typeface="汉仪旗黑-50简" panose="00020600040101010101" charset="-122"/>
              <a:cs typeface="汉仪旗黑-50简" panose="0002060004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27455" y="2244725"/>
            <a:ext cx="10278110" cy="144655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79B1AC"/>
                </a:solidFill>
                <a:effectLst/>
                <a:uLnTx/>
                <a:uFillTx/>
                <a:latin typeface="汉仪文黑-75简" panose="00020600040101010101" charset="-122"/>
                <a:ea typeface="汉仪文黑-75简" panose="00020600040101010101" charset="-122"/>
                <a:cs typeface="汉仪旗黑-50简" panose="00020600040101010101" charset="-122"/>
              </a:rPr>
              <a:t>动力学建模与仿真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311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5FCB4-C235-FC46-D3A9-772267D6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上周问题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DA79E2-8DA1-63DD-6399-4EF8210D5A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7162" y="1464463"/>
            <a:ext cx="9737676" cy="4423142"/>
          </a:xfrm>
        </p:spPr>
        <p:txBody>
          <a:bodyPr/>
          <a:lstStyle/>
          <a:p>
            <a:r>
              <a:rPr lang="zh-CN" altLang="en-US" dirty="0"/>
              <a:t>建模方法单一，仅有集中质量法，无 </a:t>
            </a:r>
            <a:r>
              <a:rPr lang="en-US" altLang="zh-CN" dirty="0"/>
              <a:t>baseline</a:t>
            </a:r>
          </a:p>
          <a:p>
            <a:pPr lvl="1"/>
            <a:r>
              <a:rPr lang="zh-CN" altLang="en-US" dirty="0"/>
              <a:t>考虑除了集中质量法以外其他动力学建模方法</a:t>
            </a:r>
            <a:endParaRPr lang="en-US" altLang="zh-CN" dirty="0"/>
          </a:p>
          <a:p>
            <a:r>
              <a:rPr lang="zh-CN" altLang="en-US" dirty="0"/>
              <a:t>建模精度不够，缺乏对真实情况的进一步描述</a:t>
            </a:r>
            <a:endParaRPr lang="en-US" altLang="zh-CN" dirty="0"/>
          </a:p>
          <a:p>
            <a:pPr lvl="1"/>
            <a:r>
              <a:rPr lang="zh-CN" altLang="en-US" dirty="0"/>
              <a:t>无法描述滚动体非完美滚动的情况，如发生滑动</a:t>
            </a:r>
            <a:endParaRPr lang="en-US" altLang="zh-CN" dirty="0"/>
          </a:p>
          <a:p>
            <a:pPr lvl="1"/>
            <a:r>
              <a:rPr lang="zh-CN" altLang="en-US" dirty="0"/>
              <a:t>保持架断裂在现实中并不常见，更常见的情况是保持架发生疲劳，或保持架脱落碎屑干扰滚动体的运动</a:t>
            </a:r>
            <a:endParaRPr lang="en-US" altLang="zh-CN" dirty="0"/>
          </a:p>
          <a:p>
            <a:pPr lvl="1"/>
            <a:r>
              <a:rPr lang="zh-CN" altLang="en-US" dirty="0"/>
              <a:t>材料本构特征不发生变化的假设不符合实际，材料本构特征会随性能退化、组成部分的失效而发生变化</a:t>
            </a:r>
          </a:p>
        </p:txBody>
      </p:sp>
    </p:spTree>
    <p:extLst>
      <p:ext uri="{BB962C8B-B14F-4D97-AF65-F5344CB8AC3E}">
        <p14:creationId xmlns:p14="http://schemas.microsoft.com/office/powerpoint/2010/main" val="10203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7EDA3-EE64-84C5-B396-0E25323B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实现路径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B91120-C360-CD2A-C9A4-A557D4A582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5547" y="1440511"/>
            <a:ext cx="10193388" cy="478703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保持架疲劳与碎屑干扰</a:t>
            </a:r>
            <a:endParaRPr lang="en-US" altLang="zh-CN" dirty="0"/>
          </a:p>
          <a:p>
            <a:pPr lvl="1"/>
            <a:r>
              <a:rPr lang="zh-CN" altLang="en-US" dirty="0"/>
              <a:t>在 </a:t>
            </a:r>
            <a:r>
              <a:rPr lang="en-US" altLang="zh-CN" dirty="0"/>
              <a:t>Hertz </a:t>
            </a:r>
            <a:r>
              <a:rPr lang="zh-CN" altLang="en-US" dirty="0"/>
              <a:t>接触力中加入一个随机脉冲因子       ，当滚动体触碰到碎屑时，碎屑会随机改变接触间隙</a:t>
            </a:r>
            <a:endParaRPr lang="en-US" altLang="zh-CN" dirty="0"/>
          </a:p>
          <a:p>
            <a:r>
              <a:rPr lang="zh-CN" altLang="en-US" dirty="0"/>
              <a:t>增加系统自由度</a:t>
            </a:r>
            <a:endParaRPr lang="en-US" altLang="zh-CN" dirty="0"/>
          </a:p>
          <a:p>
            <a:pPr lvl="1"/>
            <a:r>
              <a:rPr lang="zh-CN" altLang="en-US" dirty="0"/>
              <a:t>增加保持架的位移，扩展为 </a:t>
            </a:r>
            <a:r>
              <a:rPr lang="en-US" altLang="zh-CN" dirty="0"/>
              <a:t>6-DOF </a:t>
            </a:r>
            <a:r>
              <a:rPr lang="zh-CN" altLang="en-US" dirty="0"/>
              <a:t>系统</a:t>
            </a:r>
            <a:endParaRPr lang="en-US" altLang="zh-CN" dirty="0"/>
          </a:p>
          <a:p>
            <a:r>
              <a:rPr lang="zh-CN" altLang="en-US" dirty="0"/>
              <a:t>滚动体打滑</a:t>
            </a:r>
            <a:endParaRPr lang="en-US" altLang="zh-CN" dirty="0"/>
          </a:p>
          <a:p>
            <a:pPr lvl="1"/>
            <a:r>
              <a:rPr lang="zh-CN" altLang="en-US" dirty="0"/>
              <a:t>引入牵引力模型，如牛顿流体或非牛顿流体 </a:t>
            </a:r>
            <a:r>
              <a:rPr lang="en-US" altLang="zh-CN" dirty="0"/>
              <a:t>EHL </a:t>
            </a:r>
            <a:r>
              <a:rPr lang="zh-CN" altLang="en-US" dirty="0"/>
              <a:t>理论，根据滚动体与滚道的相对速度计算切向力</a:t>
            </a:r>
            <a:endParaRPr lang="en-US" altLang="zh-CN" dirty="0"/>
          </a:p>
          <a:p>
            <a:r>
              <a:rPr lang="zh-CN" altLang="en-US" dirty="0"/>
              <a:t>随失效演变的本构特征</a:t>
            </a:r>
            <a:endParaRPr lang="en-US" altLang="zh-CN" dirty="0"/>
          </a:p>
          <a:p>
            <a:pPr lvl="1"/>
            <a:r>
              <a:rPr lang="zh-CN" altLang="en-US" dirty="0"/>
              <a:t>将      和阻尼     定义为关于损伤累积因子    或时间   的函数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66BB979-065B-92BD-80E4-C3330D356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260027"/>
              </p:ext>
            </p:extLst>
          </p:nvPr>
        </p:nvGraphicFramePr>
        <p:xfrm>
          <a:off x="6859804" y="2046642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342720" progId="Equation.DSMT4">
                  <p:embed/>
                </p:oleObj>
              </mc:Choice>
              <mc:Fallback>
                <p:oleObj name="Equation" r:id="rId2" imgW="533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9804" y="2046642"/>
                        <a:ext cx="53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2C2C7DC-1087-8DB4-EB11-D9F00C51C0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591735"/>
              </p:ext>
            </p:extLst>
          </p:nvPr>
        </p:nvGraphicFramePr>
        <p:xfrm>
          <a:off x="4757619" y="2389542"/>
          <a:ext cx="215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79360" progId="Equation.DSMT4">
                  <p:embed/>
                </p:oleObj>
              </mc:Choice>
              <mc:Fallback>
                <p:oleObj name="Equation" r:id="rId4" imgW="215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57619" y="2389542"/>
                        <a:ext cx="215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EF9758-68BE-F476-BEB2-A74EDEDA7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246220"/>
              </p:ext>
            </p:extLst>
          </p:nvPr>
        </p:nvGraphicFramePr>
        <p:xfrm>
          <a:off x="2242952" y="5703570"/>
          <a:ext cx="35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320" imgH="380880" progId="Equation.DSMT4">
                  <p:embed/>
                </p:oleObj>
              </mc:Choice>
              <mc:Fallback>
                <p:oleObj name="Equation" r:id="rId6" imgW="3553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42952" y="5703570"/>
                        <a:ext cx="355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AD108EA-F725-8091-5C18-3854DE6D7B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702286"/>
              </p:ext>
            </p:extLst>
          </p:nvPr>
        </p:nvGraphicFramePr>
        <p:xfrm>
          <a:off x="3516161" y="5725628"/>
          <a:ext cx="254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00" imgH="279360" progId="Equation.DSMT4">
                  <p:embed/>
                </p:oleObj>
              </mc:Choice>
              <mc:Fallback>
                <p:oleObj name="Equation" r:id="rId8" imgW="253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16161" y="5725628"/>
                        <a:ext cx="254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9F1299D-5E1A-48F6-4B9E-D2E6B93308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965012"/>
              </p:ext>
            </p:extLst>
          </p:nvPr>
        </p:nvGraphicFramePr>
        <p:xfrm>
          <a:off x="6859804" y="5738328"/>
          <a:ext cx="279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360" imgH="266400" progId="Equation.DSMT4">
                  <p:embed/>
                </p:oleObj>
              </mc:Choice>
              <mc:Fallback>
                <p:oleObj name="Equation" r:id="rId10" imgW="2793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59804" y="5738328"/>
                        <a:ext cx="2794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7942AA9-9F36-F3C3-2A46-CD8A6ED083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269339"/>
              </p:ext>
            </p:extLst>
          </p:nvPr>
        </p:nvGraphicFramePr>
        <p:xfrm>
          <a:off x="8008351" y="5773420"/>
          <a:ext cx="12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241200" progId="Equation.DSMT4">
                  <p:embed/>
                </p:oleObj>
              </mc:Choice>
              <mc:Fallback>
                <p:oleObj name="Equation" r:id="rId12" imgW="1267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008351" y="5773420"/>
                        <a:ext cx="127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2763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7EDA3-EE64-84C5-B396-0E25323B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实现挑战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B91120-C360-CD2A-C9A4-A557D4A582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0278" y="1283005"/>
            <a:ext cx="11435047" cy="5417489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保持架疲劳与碎屑干扰</a:t>
            </a:r>
            <a:endParaRPr lang="en-US" altLang="zh-CN" dirty="0"/>
          </a:p>
          <a:p>
            <a:pPr lvl="1"/>
            <a:r>
              <a:rPr lang="zh-CN" altLang="en-US" dirty="0"/>
              <a:t>求解可能存在困难，基于导数的求解器很讨厌不连续的函数，而脉冲因子便是非连续的</a:t>
            </a:r>
            <a:endParaRPr lang="en-US" altLang="zh-CN" dirty="0"/>
          </a:p>
          <a:p>
            <a:r>
              <a:rPr lang="zh-CN" altLang="en-US" dirty="0"/>
              <a:t>增加系统自由度</a:t>
            </a:r>
            <a:endParaRPr lang="en-US" altLang="zh-CN" dirty="0"/>
          </a:p>
          <a:p>
            <a:pPr lvl="1"/>
            <a:r>
              <a:rPr lang="zh-CN" altLang="en-US" dirty="0"/>
              <a:t>未知参数增加，增加自由度意味着新增质量、刚度、阻尼等参数，刚度与阻尼通常需要通过有限元分析计算</a:t>
            </a:r>
            <a:endParaRPr lang="en-US" altLang="zh-CN" dirty="0"/>
          </a:p>
          <a:p>
            <a:pPr lvl="1"/>
            <a:r>
              <a:rPr lang="zh-CN" altLang="en-US" dirty="0"/>
              <a:t>模态耦合，自由度越高，系统刚性越强，不同部件的固有频率可能差几个数量级，导致方程组变得及其“刚性”，需要使用更复杂的求解器，求解时间指数级增加</a:t>
            </a:r>
            <a:endParaRPr lang="en-US" altLang="zh-CN" dirty="0"/>
          </a:p>
          <a:p>
            <a:r>
              <a:rPr lang="zh-CN" altLang="en-US" dirty="0"/>
              <a:t>滚动体打滑</a:t>
            </a:r>
            <a:endParaRPr lang="en-US" altLang="zh-CN" dirty="0"/>
          </a:p>
          <a:p>
            <a:pPr lvl="1"/>
            <a:r>
              <a:rPr lang="zh-CN" altLang="en-US" dirty="0"/>
              <a:t>非线性牵引力，滚动体打滑必须引入弹性流体动力润滑理论，需要计算实时油膜厚度、牵引系数等，牵引系数与滑动速度之间的关系也是非线性且对温度及其敏感</a:t>
            </a:r>
            <a:endParaRPr lang="en-US" altLang="zh-CN" dirty="0"/>
          </a:p>
          <a:p>
            <a:pPr lvl="1"/>
            <a:r>
              <a:rPr lang="zh-CN" altLang="en-US" dirty="0"/>
              <a:t>滚动体在“纯滚动”和“滑动”之间的频繁切换回导致摩擦力方向和大小的剧烈波动，会引起高频的自激振动，对动力学模型的阻尼处理要求极高，否则会出现不真实的数值振荡</a:t>
            </a:r>
            <a:endParaRPr lang="en-US" altLang="zh-CN" dirty="0"/>
          </a:p>
          <a:p>
            <a:r>
              <a:rPr lang="zh-CN" altLang="en-US" dirty="0"/>
              <a:t>随失效演变的本构特征</a:t>
            </a:r>
            <a:endParaRPr lang="en-US" altLang="zh-CN" dirty="0"/>
          </a:p>
          <a:p>
            <a:pPr lvl="1"/>
            <a:r>
              <a:rPr lang="zh-CN" altLang="en-US" dirty="0"/>
              <a:t>本构关系的量化，涉及到微观材料力学，需要建立从几何损伤尺寸到等效力学参数的映射函数</a:t>
            </a:r>
            <a:endParaRPr lang="en-US" altLang="zh-CN" dirty="0"/>
          </a:p>
          <a:p>
            <a:pPr lvl="1"/>
            <a:r>
              <a:rPr lang="zh-CN" altLang="en-US" dirty="0"/>
              <a:t>失效演变过程通常是长周期的疲劳过程，而动力学仿真通常只模拟几秒钟，如何将微秒级的动力学响应与数千小时级的失效演变过程耦合，是难题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EB139B1-052E-6220-B945-88C00D4328D6}"/>
              </a:ext>
            </a:extLst>
          </p:cNvPr>
          <p:cNvGrpSpPr/>
          <p:nvPr/>
        </p:nvGrpSpPr>
        <p:grpSpPr>
          <a:xfrm>
            <a:off x="3715351" y="402111"/>
            <a:ext cx="9028496" cy="801047"/>
            <a:chOff x="2906829" y="402111"/>
            <a:chExt cx="9028496" cy="80104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8CAE21B-9DA0-B1F7-70A4-F96BB481BFC7}"/>
                </a:ext>
              </a:extLst>
            </p:cNvPr>
            <p:cNvSpPr/>
            <p:nvPr/>
          </p:nvSpPr>
          <p:spPr>
            <a:xfrm>
              <a:off x="3710538" y="402111"/>
              <a:ext cx="7421078" cy="801047"/>
            </a:xfrm>
            <a:prstGeom prst="rect">
              <a:avLst/>
            </a:prstGeom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C0695F4-72D0-EDC5-23CC-294B16AD8A28}"/>
                </a:ext>
              </a:extLst>
            </p:cNvPr>
            <p:cNvSpPr txBox="1"/>
            <p:nvPr/>
          </p:nvSpPr>
          <p:spPr>
            <a:xfrm>
              <a:off x="2906829" y="571802"/>
              <a:ext cx="90284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碎屑干扰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&lt;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增加自由度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&lt;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滚动体打滑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&lt;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本构特征演变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006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22C64-0651-AF93-FEB6-EE0AD524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本周实现</a:t>
            </a:r>
            <a:r>
              <a:rPr lang="en-US" altLang="zh-CN" dirty="0"/>
              <a:t>——</a:t>
            </a:r>
            <a:r>
              <a:rPr lang="zh-CN" altLang="en-US" dirty="0"/>
              <a:t>保持架疲劳对滚动体相位干扰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3C3DCF-1A23-4163-2D02-763173AD94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0301" y="1708150"/>
            <a:ext cx="9134475" cy="3819525"/>
          </a:xfrm>
        </p:spPr>
        <p:txBody>
          <a:bodyPr/>
          <a:lstStyle/>
          <a:p>
            <a:r>
              <a:rPr lang="zh-CN" altLang="en-US" dirty="0"/>
              <a:t>保持架疲劳引起滚动体相位游荡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    ：疲劳引起的游荡幅值</a:t>
            </a:r>
            <a:endParaRPr lang="en-US" altLang="zh-CN" dirty="0"/>
          </a:p>
          <a:p>
            <a:pPr lvl="1"/>
            <a:r>
              <a:rPr lang="en-US" altLang="zh-CN" dirty="0"/>
              <a:t>    </a:t>
            </a:r>
            <a:r>
              <a:rPr lang="zh-CN" altLang="en-US" dirty="0"/>
              <a:t>：每个滚动体特有的扰动频率，通常为低频</a:t>
            </a:r>
            <a:endParaRPr lang="en-US" altLang="zh-CN" dirty="0"/>
          </a:p>
          <a:p>
            <a:pPr lvl="1"/>
            <a:r>
              <a:rPr lang="en-US" altLang="zh-CN" dirty="0"/>
              <a:t>    </a:t>
            </a:r>
            <a:r>
              <a:rPr lang="zh-CN" altLang="en-US" dirty="0"/>
              <a:t>：每个滚动体扰动的初始相位，随机分配</a:t>
            </a:r>
            <a:endParaRPr lang="en-US" altLang="zh-CN" dirty="0"/>
          </a:p>
          <a:p>
            <a:pPr lvl="2"/>
            <a:r>
              <a:rPr lang="zh-CN" altLang="en-US" dirty="0"/>
              <a:t>保证滚动体之间不同步运动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5653792-45A2-8845-FE1C-7FD4292219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041825"/>
              </p:ext>
            </p:extLst>
          </p:nvPr>
        </p:nvGraphicFramePr>
        <p:xfrm>
          <a:off x="3440898" y="2616200"/>
          <a:ext cx="5156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55920" imgH="812520" progId="Equation.DSMT4">
                  <p:embed/>
                </p:oleObj>
              </mc:Choice>
              <mc:Fallback>
                <p:oleObj name="Equation" r:id="rId2" imgW="51559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40898" y="2616200"/>
                        <a:ext cx="5156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88FA04E-4FD8-B788-B501-12F5619129C7}"/>
              </a:ext>
            </a:extLst>
          </p:cNvPr>
          <p:cNvSpPr/>
          <p:nvPr/>
        </p:nvSpPr>
        <p:spPr>
          <a:xfrm>
            <a:off x="6410426" y="2698950"/>
            <a:ext cx="2186672" cy="6472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注: 弯曲线形 5">
            <a:extLst>
              <a:ext uri="{FF2B5EF4-FFF2-40B4-BE49-F238E27FC236}">
                <a16:creationId xmlns:a16="http://schemas.microsoft.com/office/drawing/2014/main" id="{574EF07C-4A54-DBEC-9372-D5B5FA6EC136}"/>
              </a:ext>
            </a:extLst>
          </p:cNvPr>
          <p:cNvSpPr/>
          <p:nvPr/>
        </p:nvSpPr>
        <p:spPr>
          <a:xfrm>
            <a:off x="9244999" y="1990339"/>
            <a:ext cx="1559292" cy="529609"/>
          </a:xfrm>
          <a:prstGeom prst="borderCallout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相位游荡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9537422-4CE6-C393-5698-4825FC7A1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590432"/>
              </p:ext>
            </p:extLst>
          </p:nvPr>
        </p:nvGraphicFramePr>
        <p:xfrm>
          <a:off x="2005013" y="3617913"/>
          <a:ext cx="35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320" imgH="419040" progId="Equation.DSMT4">
                  <p:embed/>
                </p:oleObj>
              </mc:Choice>
              <mc:Fallback>
                <p:oleObj name="Equation" r:id="rId4" imgW="3553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05013" y="3617913"/>
                        <a:ext cx="355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3A747A1-2F50-BC11-74C9-3713DE0075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0958874"/>
              </p:ext>
            </p:extLst>
          </p:nvPr>
        </p:nvGraphicFramePr>
        <p:xfrm>
          <a:off x="2036763" y="4153694"/>
          <a:ext cx="29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60" imgH="419040" progId="Equation.DSMT4">
                  <p:embed/>
                </p:oleObj>
              </mc:Choice>
              <mc:Fallback>
                <p:oleObj name="Equation" r:id="rId6" imgW="291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36763" y="4153694"/>
                        <a:ext cx="292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B9670E0-3DBB-C402-1110-732230B15A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124943"/>
              </p:ext>
            </p:extLst>
          </p:nvPr>
        </p:nvGraphicFramePr>
        <p:xfrm>
          <a:off x="2093913" y="4631134"/>
          <a:ext cx="266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419040" progId="Equation.DSMT4">
                  <p:embed/>
                </p:oleObj>
              </mc:Choice>
              <mc:Fallback>
                <p:oleObj name="Equation" r:id="rId8" imgW="266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93913" y="4631134"/>
                        <a:ext cx="266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612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227F0-EC9D-AD17-6B2F-9CF1B23C4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本周实现</a:t>
            </a:r>
            <a:r>
              <a:rPr lang="en-US" altLang="zh-CN" dirty="0"/>
              <a:t>——</a:t>
            </a:r>
            <a:r>
              <a:rPr lang="zh-CN" altLang="en-US" dirty="0"/>
              <a:t>保持架碎屑脱落对滚动体运动干扰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69BBD2-D3A2-D81D-5586-BEA5A16E21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8762" y="1217525"/>
            <a:ext cx="9134475" cy="5124008"/>
          </a:xfrm>
        </p:spPr>
        <p:txBody>
          <a:bodyPr>
            <a:normAutofit/>
          </a:bodyPr>
          <a:lstStyle/>
          <a:p>
            <a:r>
              <a:rPr lang="zh-CN" altLang="en-US" dirty="0"/>
              <a:t>碎屑突起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          ：第 </a:t>
            </a:r>
            <a:r>
              <a:rPr lang="en-US" altLang="zh-CN" dirty="0"/>
              <a:t>j </a:t>
            </a:r>
            <a:r>
              <a:rPr lang="zh-CN" altLang="en-US" dirty="0"/>
              <a:t>个滚动体受到的瞬时垫高量</a:t>
            </a:r>
            <a:endParaRPr lang="en-US" altLang="zh-CN" dirty="0"/>
          </a:p>
          <a:p>
            <a:pPr lvl="1"/>
            <a:r>
              <a:rPr lang="en-US" altLang="zh-CN" dirty="0"/>
              <a:t>     </a:t>
            </a:r>
            <a:r>
              <a:rPr lang="zh-CN" altLang="en-US" dirty="0"/>
              <a:t>：滚道上的碎屑总数</a:t>
            </a:r>
            <a:endParaRPr lang="en-US" altLang="zh-CN" dirty="0"/>
          </a:p>
          <a:p>
            <a:pPr lvl="1"/>
            <a:r>
              <a:rPr lang="en-US" altLang="zh-CN" dirty="0"/>
              <a:t>     </a:t>
            </a:r>
            <a:r>
              <a:rPr lang="zh-CN" altLang="en-US" dirty="0"/>
              <a:t>：第 </a:t>
            </a:r>
            <a:r>
              <a:rPr lang="en-US" altLang="zh-CN" dirty="0"/>
              <a:t>k </a:t>
            </a:r>
            <a:r>
              <a:rPr lang="zh-CN" altLang="en-US" dirty="0"/>
              <a:t>个碎屑的高度，随机生成</a:t>
            </a:r>
            <a:endParaRPr lang="en-US" altLang="zh-CN" dirty="0"/>
          </a:p>
          <a:p>
            <a:pPr lvl="1"/>
            <a:r>
              <a:rPr lang="en-US" altLang="zh-CN" dirty="0"/>
              <a:t>     </a:t>
            </a:r>
            <a:r>
              <a:rPr lang="zh-CN" altLang="en-US" dirty="0"/>
              <a:t>：第 </a:t>
            </a:r>
            <a:r>
              <a:rPr lang="en-US" altLang="zh-CN" dirty="0"/>
              <a:t>j </a:t>
            </a:r>
            <a:r>
              <a:rPr lang="zh-CN" altLang="en-US" dirty="0"/>
              <a:t>个滚动体到第 </a:t>
            </a:r>
            <a:r>
              <a:rPr lang="en-US" altLang="zh-CN" dirty="0"/>
              <a:t>k </a:t>
            </a:r>
            <a:r>
              <a:rPr lang="zh-CN" altLang="en-US" dirty="0"/>
              <a:t>个碎屑中心的角距离</a:t>
            </a:r>
            <a:endParaRPr lang="en-US" altLang="zh-CN" dirty="0"/>
          </a:p>
          <a:p>
            <a:pPr lvl="1"/>
            <a:r>
              <a:rPr lang="en-US" altLang="zh-CN" dirty="0"/>
              <a:t>     </a:t>
            </a:r>
            <a:r>
              <a:rPr lang="zh-CN" altLang="en-US" dirty="0"/>
              <a:t>：第 </a:t>
            </a:r>
            <a:r>
              <a:rPr lang="en-US" altLang="zh-CN" dirty="0"/>
              <a:t>k </a:t>
            </a:r>
            <a:r>
              <a:rPr lang="zh-CN" altLang="en-US" dirty="0"/>
              <a:t>个碎屑的影响角宽度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F9FBF65-AA6B-AC32-8782-993AB237D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186182"/>
              </p:ext>
            </p:extLst>
          </p:nvPr>
        </p:nvGraphicFramePr>
        <p:xfrm>
          <a:off x="4300537" y="1885863"/>
          <a:ext cx="4165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65560" imgH="939600" progId="Equation.DSMT4">
                  <p:embed/>
                </p:oleObj>
              </mc:Choice>
              <mc:Fallback>
                <p:oleObj name="Equation" r:id="rId2" imgW="416556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00537" y="1885863"/>
                        <a:ext cx="41656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507EE5F-EF32-73EB-EF87-8A593CA8C7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097700"/>
              </p:ext>
            </p:extLst>
          </p:nvPr>
        </p:nvGraphicFramePr>
        <p:xfrm>
          <a:off x="2219854" y="3127287"/>
          <a:ext cx="825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419040" progId="Equation.DSMT4">
                  <p:embed/>
                </p:oleObj>
              </mc:Choice>
              <mc:Fallback>
                <p:oleObj name="Equation" r:id="rId4" imgW="82548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F9FBF65-AA6B-AC32-8782-993AB237DE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19854" y="3127287"/>
                        <a:ext cx="825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49C81D7-8328-60E5-6D08-D7AA894F91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68007"/>
              </p:ext>
            </p:extLst>
          </p:nvPr>
        </p:nvGraphicFramePr>
        <p:xfrm>
          <a:off x="2219854" y="3653065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80" imgH="380880" progId="Equation.DSMT4">
                  <p:embed/>
                </p:oleObj>
              </mc:Choice>
              <mc:Fallback>
                <p:oleObj name="Equation" r:id="rId6" imgW="380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19854" y="3653065"/>
                        <a:ext cx="381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9F955D4-DADE-3914-4BFC-9157D4126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734339"/>
              </p:ext>
            </p:extLst>
          </p:nvPr>
        </p:nvGraphicFramePr>
        <p:xfrm>
          <a:off x="2219854" y="4140743"/>
          <a:ext cx="393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380880" progId="Equation.DSMT4">
                  <p:embed/>
                </p:oleObj>
              </mc:Choice>
              <mc:Fallback>
                <p:oleObj name="Equation" r:id="rId8" imgW="3934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19854" y="4140743"/>
                        <a:ext cx="393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A5A0B15-B0A3-BAD5-24E2-A91AF63240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048801"/>
              </p:ext>
            </p:extLst>
          </p:nvPr>
        </p:nvGraphicFramePr>
        <p:xfrm>
          <a:off x="2219854" y="4628421"/>
          <a:ext cx="41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419040" progId="Equation.DSMT4">
                  <p:embed/>
                </p:oleObj>
              </mc:Choice>
              <mc:Fallback>
                <p:oleObj name="Equation" r:id="rId10" imgW="4190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19854" y="4628421"/>
                        <a:ext cx="419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0C70D3D-CA54-A093-A01D-DD1A9552B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830187"/>
              </p:ext>
            </p:extLst>
          </p:nvPr>
        </p:nvGraphicFramePr>
        <p:xfrm>
          <a:off x="2219854" y="5154198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120" imgH="380880" progId="Equation.DSMT4">
                  <p:embed/>
                </p:oleObj>
              </mc:Choice>
              <mc:Fallback>
                <p:oleObj name="Equation" r:id="rId12" imgW="330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19854" y="5154198"/>
                        <a:ext cx="330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2759D672-1DDF-859B-5C51-889761376D6E}"/>
              </a:ext>
            </a:extLst>
          </p:cNvPr>
          <p:cNvSpPr/>
          <p:nvPr/>
        </p:nvSpPr>
        <p:spPr>
          <a:xfrm>
            <a:off x="6209047" y="1789678"/>
            <a:ext cx="2257090" cy="11228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注: 弯曲线形 16">
            <a:extLst>
              <a:ext uri="{FF2B5EF4-FFF2-40B4-BE49-F238E27FC236}">
                <a16:creationId xmlns:a16="http://schemas.microsoft.com/office/drawing/2014/main" id="{2FF8A9FE-4412-14AA-CEC9-B08072216DBA}"/>
              </a:ext>
            </a:extLst>
          </p:cNvPr>
          <p:cNvSpPr/>
          <p:nvPr/>
        </p:nvSpPr>
        <p:spPr>
          <a:xfrm>
            <a:off x="9561914" y="1566560"/>
            <a:ext cx="2062588" cy="446235"/>
          </a:xfrm>
          <a:prstGeom prst="borderCallout2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将脉冲冲击连续化</a:t>
            </a:r>
          </a:p>
        </p:txBody>
      </p:sp>
    </p:spTree>
    <p:extLst>
      <p:ext uri="{BB962C8B-B14F-4D97-AF65-F5344CB8AC3E}">
        <p14:creationId xmlns:p14="http://schemas.microsoft.com/office/powerpoint/2010/main" val="396756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227F0-EC9D-AD17-6B2F-9CF1B23C4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本周实现</a:t>
            </a:r>
            <a:r>
              <a:rPr lang="en-US" altLang="zh-CN" dirty="0"/>
              <a:t>——</a:t>
            </a:r>
            <a:r>
              <a:rPr lang="zh-CN" altLang="en-US" dirty="0"/>
              <a:t>保持架碎屑脱落对滚动体运动干扰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69BBD2-D3A2-D81D-5586-BEA5A16E21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8762" y="1827125"/>
            <a:ext cx="9134475" cy="5124008"/>
          </a:xfrm>
        </p:spPr>
        <p:txBody>
          <a:bodyPr>
            <a:normAutofit/>
          </a:bodyPr>
          <a:lstStyle/>
          <a:p>
            <a:r>
              <a:rPr lang="zh-CN" altLang="en-US" dirty="0"/>
              <a:t>总接触变形公式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     ：总挤压形变量，用于计算</a:t>
            </a:r>
            <a:r>
              <a:rPr lang="en-US" altLang="zh-CN" dirty="0"/>
              <a:t> Hertz </a:t>
            </a:r>
            <a:r>
              <a:rPr lang="zh-CN" altLang="en-US" dirty="0"/>
              <a:t>接触力</a:t>
            </a:r>
            <a:endParaRPr lang="en-US" altLang="zh-CN" dirty="0"/>
          </a:p>
          <a:p>
            <a:pPr lvl="1"/>
            <a:r>
              <a:rPr lang="en-US" altLang="zh-CN" dirty="0"/>
              <a:t>     </a:t>
            </a:r>
            <a:r>
              <a:rPr lang="zh-CN" altLang="en-US" dirty="0"/>
              <a:t>：轴承径向游隙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507EE5F-EF32-73EB-EF87-8A593CA8C7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937647"/>
              </p:ext>
            </p:extLst>
          </p:nvPr>
        </p:nvGraphicFramePr>
        <p:xfrm>
          <a:off x="2263773" y="3790226"/>
          <a:ext cx="29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1960" imgH="419040" progId="Equation.DSMT4">
                  <p:embed/>
                </p:oleObj>
              </mc:Choice>
              <mc:Fallback>
                <p:oleObj name="Equation" r:id="rId2" imgW="291960" imgH="419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507EE5F-EF32-73EB-EF87-8A593CA8C7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63773" y="3790226"/>
                        <a:ext cx="292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49C81D7-8328-60E5-6D08-D7AA894F91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04720"/>
              </p:ext>
            </p:extLst>
          </p:nvPr>
        </p:nvGraphicFramePr>
        <p:xfrm>
          <a:off x="2251075" y="4262438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160" imgH="380880" progId="Equation.DSMT4">
                  <p:embed/>
                </p:oleObj>
              </mc:Choice>
              <mc:Fallback>
                <p:oleObj name="Equation" r:id="rId4" imgW="31716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49C81D7-8328-60E5-6D08-D7AA894F91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51075" y="4262438"/>
                        <a:ext cx="317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385D8CE-0399-F177-27F2-07EFECF698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220622"/>
              </p:ext>
            </p:extLst>
          </p:nvPr>
        </p:nvGraphicFramePr>
        <p:xfrm>
          <a:off x="3045354" y="2910080"/>
          <a:ext cx="6426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26000" imgH="419040" progId="Equation.DSMT4">
                  <p:embed/>
                </p:oleObj>
              </mc:Choice>
              <mc:Fallback>
                <p:oleObj name="Equation" r:id="rId6" imgW="64260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45354" y="2910080"/>
                        <a:ext cx="6426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7190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227F0-EC9D-AD17-6B2F-9CF1B23C4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仿真实现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ED5D983-8B52-B511-333D-4BAB106B7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14" y="1554132"/>
            <a:ext cx="6110486" cy="445414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C13A18F-FED8-1B59-B55B-5EFBEB075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638" y="4048021"/>
            <a:ext cx="4024429" cy="19602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D22EFC7-5DE7-87F7-D96C-CF3A2AC23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0" y="1554132"/>
            <a:ext cx="4199467" cy="218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65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形 12">
            <a:extLst>
              <a:ext uri="{FF2B5EF4-FFF2-40B4-BE49-F238E27FC236}">
                <a16:creationId xmlns:a16="http://schemas.microsoft.com/office/drawing/2014/main" id="{87D5995D-D8BF-68E6-25FB-85B2F1CD22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4007" y="0"/>
            <a:ext cx="8596012" cy="639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67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5FCB4-C235-FC46-D3A9-772267D6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存在问题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DA79E2-8DA1-63DD-6399-4EF8210D5A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7162" y="1464463"/>
            <a:ext cx="9737676" cy="4423142"/>
          </a:xfrm>
        </p:spPr>
        <p:txBody>
          <a:bodyPr/>
          <a:lstStyle/>
          <a:p>
            <a:r>
              <a:rPr lang="zh-CN" altLang="en-US" dirty="0"/>
              <a:t>参数未知，游荡幅度，游荡频率、碎屑大小等随机因素的取值范围目前均为自己设置，无实验依据</a:t>
            </a:r>
            <a:endParaRPr lang="en-US" altLang="zh-CN" dirty="0"/>
          </a:p>
          <a:p>
            <a:r>
              <a:rPr lang="zh-CN" altLang="en-US" dirty="0"/>
              <a:t>为平滑函数，使用</a:t>
            </a:r>
            <a:r>
              <a:rPr lang="en-US" altLang="zh-CN" dirty="0"/>
              <a:t> </a:t>
            </a:r>
            <a:r>
              <a:rPr lang="en-US" altLang="zh-CN" dirty="0" err="1"/>
              <a:t>Hanning</a:t>
            </a:r>
            <a:r>
              <a:rPr lang="en-US" altLang="zh-CN" dirty="0"/>
              <a:t> Window </a:t>
            </a:r>
            <a:r>
              <a:rPr lang="zh-CN" altLang="en-US" dirty="0"/>
              <a:t>形状，接触渐变过程长</a:t>
            </a:r>
            <a:endParaRPr lang="en-US" altLang="zh-CN" dirty="0"/>
          </a:p>
          <a:p>
            <a:r>
              <a:rPr lang="zh-CN" altLang="en-US" dirty="0"/>
              <a:t>建模正确性待检验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971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OCwiaGRpZCI6IjZkZGI3ZjJiM2YwMWNkMGIyNjM1NzNmYTlmZWZiODIyIiwidXNlckNvdW50Ijo4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48168;#145037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汉仪旗黑-50简"/>
        <a:ea typeface=""/>
        <a:cs typeface=""/>
        <a:font script="Jpan" typeface="游ゴシック Light"/>
        <a:font script="Hang" typeface="맑은 고딕"/>
        <a:font script="Hans" typeface="汉仪旗黑-50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0简"/>
        <a:ea typeface=""/>
        <a:cs typeface=""/>
        <a:font script="Jpan" typeface="游ゴシック"/>
        <a:font script="Hang" typeface="맑은 고딕"/>
        <a:font script="Hans" typeface="汉仪旗黑-50简"/>
        <a:font script="Hant" typeface="新細明體"/>
        <a:font script="Arab" typeface="汉仪旗黑-50简"/>
        <a:font script="Hebr" typeface="汉仪旗黑-50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0简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汉仪旗黑-50简"/>
        <a:font script="Hebr" typeface="汉仪旗黑-50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旗黑-50简"/>
        <a:ea typeface=""/>
        <a:cs typeface=""/>
        <a:font script="Jpan" typeface="ＭＳ Ｐゴシック"/>
        <a:font script="Hang" typeface="맑은 고딕"/>
        <a:font script="Hans" typeface="汉仪旗黑-50简"/>
        <a:font script="Hant" typeface="新細明體"/>
        <a:font script="Arab" typeface="汉仪旗黑-50简"/>
        <a:font script="Hebr" typeface="汉仪旗黑-50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旗黑-50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655</Words>
  <Application>Microsoft Office PowerPoint</Application>
  <PresentationFormat>宽屏</PresentationFormat>
  <Paragraphs>64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汉仪旗黑-50简</vt:lpstr>
      <vt:lpstr>汉仪文黑-75简</vt:lpstr>
      <vt:lpstr>微软雅黑</vt:lpstr>
      <vt:lpstr>Arial</vt:lpstr>
      <vt:lpstr>Times New Roman</vt:lpstr>
      <vt:lpstr>Office 主题​​</vt:lpstr>
      <vt:lpstr>MathType 7.0 Equation</vt:lpstr>
      <vt:lpstr>PowerPoint 演示文稿</vt:lpstr>
      <vt:lpstr>上周问题</vt:lpstr>
      <vt:lpstr>实现路径</vt:lpstr>
      <vt:lpstr>实现挑战</vt:lpstr>
      <vt:lpstr>本周实现——保持架疲劳对滚动体相位干扰</vt:lpstr>
      <vt:lpstr>本周实现——保持架碎屑脱落对滚动体运动干扰</vt:lpstr>
      <vt:lpstr>本周实现——保持架碎屑脱落对滚动体运动干扰</vt:lpstr>
      <vt:lpstr>仿真实现</vt:lpstr>
      <vt:lpstr>PowerPoint 演示文稿</vt:lpstr>
      <vt:lpstr>存在问题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19830653@qq.com</dc:creator>
  <cp:lastModifiedBy>Wang Renjia</cp:lastModifiedBy>
  <cp:revision>45</cp:revision>
  <dcterms:created xsi:type="dcterms:W3CDTF">2020-05-21T06:52:00Z</dcterms:created>
  <dcterms:modified xsi:type="dcterms:W3CDTF">2026-03-25T13:54:17Z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KSOTemplateUUID">
    <vt:lpwstr>v1.0_mb_9dLue7sySmre05fSkgtbLA==</vt:lpwstr>
  </property>
  <property fmtid="{D5CDD505-2E9C-101B-9397-08002B2CF9AE}" pid="4" name="ICV">
    <vt:lpwstr>B7C339A28AA0401F9DEA63125DB81DE9_11</vt:lpwstr>
  </property>
</Properties>
</file>