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8" r:id="rId3"/>
    <p:sldId id="286" r:id="rId4"/>
    <p:sldId id="291" r:id="rId5"/>
    <p:sldId id="290" r:id="rId6"/>
    <p:sldId id="292" r:id="rId7"/>
    <p:sldId id="293" r:id="rId8"/>
    <p:sldId id="294" r:id="rId9"/>
    <p:sldId id="295" r:id="rId10"/>
    <p:sldId id="28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0000">
            <a:extLst>
              <a:ext uri="{FF2B5EF4-FFF2-40B4-BE49-F238E27FC236}">
                <a16:creationId xmlns:a16="http://schemas.microsoft.com/office/drawing/2014/main" id="{FDC37E5B-CC6A-FA69-9C25-F96F7D5B2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9525" y="-24130"/>
            <a:ext cx="12254865" cy="689483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5AF59D-2874-7181-4349-905417DC1420}"/>
              </a:ext>
            </a:extLst>
          </p:cNvPr>
          <p:cNvCxnSpPr/>
          <p:nvPr userDrawn="1"/>
        </p:nvCxnSpPr>
        <p:spPr>
          <a:xfrm>
            <a:off x="5361305" y="103314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0000">
            <a:extLst>
              <a:ext uri="{FF2B5EF4-FFF2-40B4-BE49-F238E27FC236}">
                <a16:creationId xmlns:a16="http://schemas.microsoft.com/office/drawing/2014/main" id="{872FA203-A58F-93A2-8E97-577B761076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118360" y="3092823"/>
            <a:ext cx="7098665" cy="1484630"/>
          </a:xfrm>
          <a:prstGeom prst="rect">
            <a:avLst/>
          </a:prstGeom>
        </p:spPr>
      </p:pic>
      <p:pic>
        <p:nvPicPr>
          <p:cNvPr id="10" name="图片 9" descr="00001">
            <a:extLst>
              <a:ext uri="{FF2B5EF4-FFF2-40B4-BE49-F238E27FC236}">
                <a16:creationId xmlns:a16="http://schemas.microsoft.com/office/drawing/2014/main" id="{39DE320A-0D41-C20C-4A6D-A11C51192D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71736" y="1035685"/>
            <a:ext cx="3456305" cy="35934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2510C6-391A-241E-3302-456D75B0862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7524" y="5873411"/>
            <a:ext cx="751691" cy="876973"/>
          </a:xfrm>
          <a:prstGeom prst="rect">
            <a:avLst/>
          </a:prstGeom>
        </p:spPr>
      </p:pic>
      <p:pic>
        <p:nvPicPr>
          <p:cNvPr id="12" name="图片 1">
            <a:extLst>
              <a:ext uri="{FF2B5EF4-FFF2-40B4-BE49-F238E27FC236}">
                <a16:creationId xmlns:a16="http://schemas.microsoft.com/office/drawing/2014/main" id="{531EBC47-4573-06AD-2893-DE8BA1EB7F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196" y="5986317"/>
            <a:ext cx="2878138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300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82" y="980728"/>
            <a:ext cx="11061700" cy="52657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A3F37E21-EF8D-40F1-BB68-86BA6AA16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38569" y="6391738"/>
            <a:ext cx="1153584" cy="346075"/>
          </a:xfrm>
        </p:spPr>
        <p:txBody>
          <a:bodyPr/>
          <a:lstStyle>
            <a:lvl1pPr>
              <a:defRPr sz="18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TW" dirty="0"/>
              <a:t>P. </a:t>
            </a:r>
            <a:fld id="{BD58B7B5-DC21-48F9-B8BC-F2BDFDA693D1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pic>
        <p:nvPicPr>
          <p:cNvPr id="7" name="Picture 2" descr="C:\Documents and Settings\Administrator\桌面\06.png">
            <a:extLst>
              <a:ext uri="{FF2B5EF4-FFF2-40B4-BE49-F238E27FC236}">
                <a16:creationId xmlns:a16="http://schemas.microsoft.com/office/drawing/2014/main" id="{9A2F07E6-F475-4D45-AB4F-563AACD608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12188825" cy="761484"/>
          </a:xfrm>
          <a:prstGeom prst="rect">
            <a:avLst/>
          </a:prstGeom>
          <a:noFill/>
        </p:spPr>
      </p:pic>
      <p:cxnSp>
        <p:nvCxnSpPr>
          <p:cNvPr id="8" name="直接连接符 26">
            <a:extLst>
              <a:ext uri="{FF2B5EF4-FFF2-40B4-BE49-F238E27FC236}">
                <a16:creationId xmlns:a16="http://schemas.microsoft.com/office/drawing/2014/main" id="{F28D0F34-A945-48EE-9C03-05354E2D18B5}"/>
              </a:ext>
            </a:extLst>
          </p:cNvPr>
          <p:cNvCxnSpPr/>
          <p:nvPr userDrawn="1"/>
        </p:nvCxnSpPr>
        <p:spPr>
          <a:xfrm>
            <a:off x="1180017" y="44098"/>
            <a:ext cx="0" cy="64516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CA3A8718-94BB-6FAB-AC26-5B9F18868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2223" y="79659"/>
            <a:ext cx="8335975" cy="6271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编辑标题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8D699EB-4C0D-19C8-C05B-FD52F57535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8" y="0"/>
            <a:ext cx="765236" cy="7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4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A795D-1300-4CD0-B457-8F83DD3A9444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DBCB9-D755-4FF8-AE20-15CE1E6E7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1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000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9525" y="-24130"/>
            <a:ext cx="12254865" cy="6894830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>
            <a:off x="5361305" y="103314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000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18360" y="3092823"/>
            <a:ext cx="7098665" cy="1484630"/>
          </a:xfrm>
          <a:prstGeom prst="rect">
            <a:avLst/>
          </a:prstGeom>
        </p:spPr>
      </p:pic>
      <p:pic>
        <p:nvPicPr>
          <p:cNvPr id="30" name="图片 29" descr="0000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1736" y="1035685"/>
            <a:ext cx="3456305" cy="35934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7524" y="5873411"/>
            <a:ext cx="751691" cy="876973"/>
          </a:xfrm>
          <a:prstGeom prst="rect">
            <a:avLst/>
          </a:prstGeom>
        </p:spPr>
      </p:pic>
      <p:pic>
        <p:nvPicPr>
          <p:cNvPr id="13" name="图片 1">
            <a:extLst>
              <a:ext uri="{FF2B5EF4-FFF2-40B4-BE49-F238E27FC236}">
                <a16:creationId xmlns:a16="http://schemas.microsoft.com/office/drawing/2014/main" id="{F10EEAD9-C308-4AE8-835E-C2812F9E5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196" y="5986317"/>
            <a:ext cx="2878138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8">
            <a:extLst>
              <a:ext uri="{FF2B5EF4-FFF2-40B4-BE49-F238E27FC236}">
                <a16:creationId xmlns:a16="http://schemas.microsoft.com/office/drawing/2014/main" id="{471F8465-FEB6-43F8-9608-89E07CEFCDDD}"/>
              </a:ext>
            </a:extLst>
          </p:cNvPr>
          <p:cNvSpPr txBox="1"/>
          <p:nvPr/>
        </p:nvSpPr>
        <p:spPr>
          <a:xfrm>
            <a:off x="6117907" y="3923820"/>
            <a:ext cx="397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1837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Sub-title</a:t>
            </a:r>
            <a:endParaRPr lang="zh-CN" altLang="en-US" sz="1200" dirty="0">
              <a:solidFill>
                <a:srgbClr val="1837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"/>
          <p:cNvSpPr txBox="1"/>
          <p:nvPr/>
        </p:nvSpPr>
        <p:spPr>
          <a:xfrm>
            <a:off x="1801177" y="2590865"/>
            <a:ext cx="8589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1837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 title</a:t>
            </a:r>
            <a:endParaRPr lang="zh-CN" altLang="en-US" sz="2400" b="1" dirty="0">
              <a:solidFill>
                <a:srgbClr val="1837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359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4F439BC-0FB5-7E1D-BFEF-94262527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D58F-A136-AFB4-D95D-BC30402FD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9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CC5EC-50BE-CEA3-C2F8-ED9214E89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机械缺陷仿真与建模方法综述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932E733-2C93-4338-0BCE-16910973CDA8}"/>
              </a:ext>
            </a:extLst>
          </p:cNvPr>
          <p:cNvGrpSpPr/>
          <p:nvPr/>
        </p:nvGrpSpPr>
        <p:grpSpPr>
          <a:xfrm>
            <a:off x="114007" y="898537"/>
            <a:ext cx="8196809" cy="5346140"/>
            <a:chOff x="114007" y="898537"/>
            <a:chExt cx="8196809" cy="534614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F3CC6C6-44CD-2EED-81A2-705C0E48C480}"/>
                </a:ext>
              </a:extLst>
            </p:cNvPr>
            <p:cNvSpPr txBox="1"/>
            <p:nvPr/>
          </p:nvSpPr>
          <p:spPr>
            <a:xfrm>
              <a:off x="302802" y="936488"/>
              <a:ext cx="3223180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Lumped Mass Method (LMM)</a:t>
              </a:r>
            </a:p>
            <a:p>
              <a:endParaRPr lang="en-US" altLang="zh-CN" sz="1600" dirty="0"/>
            </a:p>
            <a:p>
              <a:r>
                <a:rPr lang="zh-CN" altLang="en-US" sz="1600" dirty="0"/>
                <a:t>忽略部件弹性变形，将质量集中于关键节点，用弹簧</a:t>
              </a:r>
              <a:r>
                <a:rPr lang="en-US" altLang="zh-CN" sz="1600" dirty="0"/>
                <a:t>/</a:t>
              </a:r>
              <a:r>
                <a:rPr lang="zh-CN" altLang="en-US" sz="1600" dirty="0"/>
                <a:t>阻尼器表征连接刚度</a:t>
              </a:r>
              <a:r>
                <a:rPr lang="en-US" altLang="zh-CN" sz="1600" dirty="0"/>
                <a:t>/</a:t>
              </a:r>
              <a:r>
                <a:rPr lang="zh-CN" altLang="en-US" sz="1600" dirty="0"/>
                <a:t>阻尼</a:t>
              </a:r>
              <a:br>
                <a:rPr lang="en-US" altLang="zh-CN" sz="1600" dirty="0"/>
              </a:br>
              <a:br>
                <a:rPr lang="en-US" altLang="zh-CN" sz="1600" dirty="0"/>
              </a:br>
              <a:endParaRPr lang="zh-CN" altLang="en-US" sz="1600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364BFEB-DBD2-D972-4A30-640F11626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471" y="2522597"/>
              <a:ext cx="3845314" cy="1552257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6AB1F50-FA92-0812-29E1-59332B579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0717" y="4347129"/>
              <a:ext cx="3845314" cy="886459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522BBFE-CEFE-4B46-9585-66491D6218C9}"/>
                </a:ext>
              </a:extLst>
            </p:cNvPr>
            <p:cNvSpPr txBox="1"/>
            <p:nvPr/>
          </p:nvSpPr>
          <p:spPr>
            <a:xfrm>
              <a:off x="114007" y="5598346"/>
              <a:ext cx="38987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方程维度低，物理意义清晰，计算极快</a:t>
              </a:r>
              <a:br>
                <a:rPr lang="en-US" altLang="zh-CN" sz="1200" dirty="0"/>
              </a:br>
              <a:br>
                <a:rPr lang="en-US" altLang="zh-CN" sz="1200" dirty="0"/>
              </a:br>
              <a:r>
                <a:rPr lang="zh-CN" altLang="en-US" sz="1200" dirty="0"/>
                <a:t>无法捕捉局部变形、高频形态；依赖工程师经验优化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9CF2DE3-4CF1-8BB8-573A-012DFD0D4604}"/>
                </a:ext>
              </a:extLst>
            </p:cNvPr>
            <p:cNvGrpSpPr/>
            <p:nvPr/>
          </p:nvGrpSpPr>
          <p:grpSpPr>
            <a:xfrm>
              <a:off x="4049314" y="898537"/>
              <a:ext cx="4261502" cy="5308189"/>
              <a:chOff x="4049314" y="898537"/>
              <a:chExt cx="4261502" cy="5308189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F3E1A8-5DE9-5E14-A12D-690F397795DB}"/>
                  </a:ext>
                </a:extLst>
              </p:cNvPr>
              <p:cNvSpPr txBox="1"/>
              <p:nvPr/>
            </p:nvSpPr>
            <p:spPr>
              <a:xfrm>
                <a:off x="4049314" y="898537"/>
                <a:ext cx="426150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Finite Element Method (FEM/ FEA)</a:t>
                </a:r>
              </a:p>
              <a:p>
                <a:endParaRPr lang="en-US" altLang="zh-CN" sz="1600" dirty="0"/>
              </a:p>
              <a:p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将连续体划分为单元 → 单元内用形函数插值位移场 → 变分原理组装全局方程</a:t>
                </a:r>
                <a:br>
                  <a:rPr lang="en-US" altLang="zh-CN" sz="1600" dirty="0"/>
                </a:br>
                <a:br>
                  <a:rPr lang="en-US" altLang="zh-CN" sz="1600" dirty="0"/>
                </a:br>
                <a:endParaRPr lang="zh-CN" altLang="en-US" sz="1600" dirty="0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21D51881-A3FF-83AF-1DF6-5715867EC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3223" y="2596133"/>
                <a:ext cx="4053684" cy="2268383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814698BB-E0BF-6BCB-A7CD-FAFF1AC1EC9B}"/>
                      </a:ext>
                    </a:extLst>
                  </p:cNvPr>
                  <p:cNvSpPr txBox="1"/>
                  <p:nvPr/>
                </p:nvSpPr>
                <p:spPr>
                  <a:xfrm>
                    <a:off x="4230698" y="5560395"/>
                    <a:ext cx="389873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几何</a:t>
                    </a:r>
                    <a:r>
                      <a:rPr lang="en-US" altLang="zh-CN" sz="1200" dirty="0"/>
                      <a:t>/</a:t>
                    </a:r>
                    <a:r>
                      <a:rPr lang="zh-CN" altLang="en-US" sz="1200" dirty="0"/>
                      <a:t>材料任意复杂、高精度、支持多物理场耦合</a:t>
                    </a:r>
                    <a:endParaRPr lang="en-US" altLang="zh-CN" sz="1200" dirty="0"/>
                  </a:p>
                  <a:p>
                    <a:endParaRPr lang="zh-CN" altLang="en-US" sz="1200" dirty="0"/>
                  </a:p>
                  <a:p>
                    <a:r>
                      <a:rPr lang="zh-CN" altLang="en-US" sz="1200" dirty="0"/>
                      <a:t>模型庞大（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a14:m>
                    <a:r>
                      <a:rPr lang="en-US" altLang="zh-CN" sz="1200" dirty="0"/>
                      <a:t> DOF</a:t>
                    </a:r>
                    <a:r>
                      <a:rPr lang="zh-CN" altLang="en-US" sz="1200" dirty="0"/>
                      <a:t>）、计算成本高、前处理复杂</a:t>
                    </a:r>
                  </a:p>
                </p:txBody>
              </p:sp>
            </mc:Choice>
            <mc:Fallback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814698BB-E0BF-6BCB-A7CD-FAFF1AC1EC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0698" y="5560395"/>
                    <a:ext cx="3898734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54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0206B5-7734-1158-0BC4-50738A31928A}"/>
              </a:ext>
            </a:extLst>
          </p:cNvPr>
          <p:cNvCxnSpPr>
            <a:cxnSpLocks/>
          </p:cNvCxnSpPr>
          <p:nvPr/>
        </p:nvCxnSpPr>
        <p:spPr>
          <a:xfrm>
            <a:off x="3950780" y="1043945"/>
            <a:ext cx="0" cy="54000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1452C84-631A-3714-DC15-D2AD5D65DBF6}"/>
              </a:ext>
            </a:extLst>
          </p:cNvPr>
          <p:cNvCxnSpPr>
            <a:cxnSpLocks/>
          </p:cNvCxnSpPr>
          <p:nvPr/>
        </p:nvCxnSpPr>
        <p:spPr>
          <a:xfrm>
            <a:off x="8198705" y="955435"/>
            <a:ext cx="0" cy="54000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9B30DE8-1554-29FA-BBCE-66F180C306AF}"/>
                  </a:ext>
                </a:extLst>
              </p:cNvPr>
              <p:cNvSpPr txBox="1"/>
              <p:nvPr/>
            </p:nvSpPr>
            <p:spPr>
              <a:xfrm>
                <a:off x="8241221" y="898537"/>
                <a:ext cx="3722176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Impulse Response Method (IRM)</a:t>
                </a:r>
              </a:p>
              <a:p>
                <a:endParaRPr lang="en-US" altLang="zh-CN" sz="1600" dirty="0"/>
              </a:p>
              <a:p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不显式构建内部动力学方程，直接利用系统对单位脉冲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solidFill>
                          <a:srgbClr val="060A26"/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响应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计算任意激励响应</a:t>
                </a:r>
                <a:endParaRPr lang="en-US" altLang="zh-CN" sz="1600" b="0" i="0" dirty="0">
                  <a:solidFill>
                    <a:srgbClr val="060A26"/>
                  </a:solidFill>
                  <a:effectLst/>
                  <a:latin typeface="PingFang SC"/>
                </a:endParaRPr>
              </a:p>
              <a:p>
                <a:br>
                  <a:rPr lang="en-US" altLang="zh-CN" sz="1600" dirty="0"/>
                </a:br>
                <a:br>
                  <a:rPr lang="en-US" altLang="zh-CN" sz="1600" dirty="0"/>
                </a:br>
                <a:endParaRPr lang="zh-CN" altLang="en-US" sz="16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9B30DE8-1554-29FA-BBCE-66F180C3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221" y="898537"/>
                <a:ext cx="3722176" cy="2092881"/>
              </a:xfrm>
              <a:prstGeom prst="rect">
                <a:avLst/>
              </a:prstGeom>
              <a:blipFill>
                <a:blip r:embed="rId6"/>
                <a:stretch>
                  <a:fillRect l="-1475" t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85E7CC2F-5AA2-A963-916E-39B11DDCF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800" y="2630031"/>
            <a:ext cx="3924200" cy="223448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4ED25EC-DA80-0CB7-AF33-CC64E6DE78BE}"/>
              </a:ext>
            </a:extLst>
          </p:cNvPr>
          <p:cNvSpPr txBox="1"/>
          <p:nvPr/>
        </p:nvSpPr>
        <p:spPr>
          <a:xfrm>
            <a:off x="8409349" y="5375728"/>
            <a:ext cx="3188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绕过复杂建模、适用于实验系统、卷积计算高效（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FFT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加速）</a:t>
            </a:r>
            <a:endParaRPr lang="en-US" altLang="zh-CN" sz="1200" b="0" i="0" dirty="0">
              <a:solidFill>
                <a:srgbClr val="060A26"/>
              </a:solidFill>
              <a:effectLst/>
              <a:latin typeface="PingFang SC"/>
            </a:endParaRPr>
          </a:p>
          <a:p>
            <a:endParaRPr lang="en-US" altLang="zh-CN" sz="1200" dirty="0">
              <a:solidFill>
                <a:srgbClr val="060A26"/>
              </a:solidFill>
              <a:latin typeface="PingFang SC"/>
            </a:endParaRPr>
          </a:p>
          <a:p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仅适用于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LTI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系统；实验噪声敏感；无法直接获取内部应力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/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应变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5694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CC5EC-50BE-CEA3-C2F8-ED9214E89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机械缺陷仿真与建模方法综述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3CC6C6-44CD-2EED-81A2-705C0E48C480}"/>
              </a:ext>
            </a:extLst>
          </p:cNvPr>
          <p:cNvSpPr txBox="1"/>
          <p:nvPr/>
        </p:nvSpPr>
        <p:spPr>
          <a:xfrm>
            <a:off x="302802" y="936488"/>
            <a:ext cx="32231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Multibody Dynamics (MBD)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zh-CN" altLang="en-US" sz="1600" dirty="0"/>
              <a:t>将系统分解为刚体</a:t>
            </a:r>
            <a:r>
              <a:rPr lang="en-US" altLang="zh-CN" sz="1600" dirty="0"/>
              <a:t>/</a:t>
            </a:r>
            <a:r>
              <a:rPr lang="zh-CN" altLang="en-US" sz="1600" dirty="0"/>
              <a:t>柔性体 </a:t>
            </a:r>
            <a:r>
              <a:rPr lang="en-US" altLang="zh-CN" sz="1600" dirty="0"/>
              <a:t>+ </a:t>
            </a:r>
            <a:r>
              <a:rPr lang="zh-CN" altLang="en-US" sz="1600" dirty="0"/>
              <a:t>约束（铰链、接触），求解大范围运动与非线性接触。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22BBFE-CEFE-4B46-9585-66491D6218C9}"/>
              </a:ext>
            </a:extLst>
          </p:cNvPr>
          <p:cNvSpPr txBox="1"/>
          <p:nvPr/>
        </p:nvSpPr>
        <p:spPr>
          <a:xfrm>
            <a:off x="114007" y="5598346"/>
            <a:ext cx="389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方程维度低，物理意义清晰，计算极快</a:t>
            </a:r>
            <a:br>
              <a:rPr lang="en-US" altLang="zh-CN" sz="1200" dirty="0"/>
            </a:br>
            <a:br>
              <a:rPr lang="en-US" altLang="zh-CN" sz="1200" dirty="0"/>
            </a:br>
            <a:r>
              <a:rPr lang="zh-CN" altLang="en-US" sz="1200" dirty="0"/>
              <a:t>无法捕捉局部变形、高频形态；依赖工程师经验优化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F3E1A8-5DE9-5E14-A12D-690F397795DB}"/>
              </a:ext>
            </a:extLst>
          </p:cNvPr>
          <p:cNvSpPr txBox="1"/>
          <p:nvPr/>
        </p:nvSpPr>
        <p:spPr>
          <a:xfrm>
            <a:off x="4049314" y="898537"/>
            <a:ext cx="42615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Finite Element Method (FEM/ FEA)</a:t>
            </a:r>
          </a:p>
          <a:p>
            <a:endParaRPr lang="en-US" altLang="zh-CN" sz="1600" dirty="0"/>
          </a:p>
          <a:p>
            <a:r>
              <a:rPr lang="zh-CN" altLang="en-US" sz="1600" b="0" i="0" dirty="0">
                <a:solidFill>
                  <a:srgbClr val="060A26"/>
                </a:solidFill>
                <a:effectLst/>
                <a:latin typeface="PingFang SC"/>
              </a:rPr>
              <a:t>将连续体划分为单元 → 单元内用形函数插值位移场 → 变分原理组装全局方程</a:t>
            </a:r>
            <a:br>
              <a:rPr lang="en-US" altLang="zh-CN" sz="1600" dirty="0"/>
            </a:br>
            <a:br>
              <a:rPr lang="en-US" altLang="zh-CN" sz="1600" dirty="0"/>
            </a:br>
            <a:endParaRPr lang="zh-CN" altLang="en-US" sz="16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1D51881-A3FF-83AF-1DF6-5715867EC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223" y="2596133"/>
            <a:ext cx="4053684" cy="22683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14698BB-E0BF-6BCB-A7CD-FAFF1AC1EC9B}"/>
                  </a:ext>
                </a:extLst>
              </p:cNvPr>
              <p:cNvSpPr txBox="1"/>
              <p:nvPr/>
            </p:nvSpPr>
            <p:spPr>
              <a:xfrm>
                <a:off x="4230698" y="5560395"/>
                <a:ext cx="38987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几何</a:t>
                </a:r>
                <a:r>
                  <a:rPr lang="en-US" altLang="zh-CN" sz="1200" dirty="0"/>
                  <a:t>/</a:t>
                </a:r>
                <a:r>
                  <a:rPr lang="zh-CN" altLang="en-US" sz="1200" dirty="0"/>
                  <a:t>材料任意复杂、高精度、支持多物理场耦合</a:t>
                </a:r>
                <a:endParaRPr lang="en-US" altLang="zh-CN" sz="1200" dirty="0"/>
              </a:p>
              <a:p>
                <a:endParaRPr lang="zh-CN" altLang="en-US" sz="1200" dirty="0"/>
              </a:p>
              <a:p>
                <a:r>
                  <a:rPr lang="zh-CN" altLang="en-US" sz="1200" dirty="0"/>
                  <a:t>模型庞大（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1200" dirty="0"/>
                  <a:t> DOF</a:t>
                </a:r>
                <a:r>
                  <a:rPr lang="zh-CN" altLang="en-US" sz="1200" dirty="0"/>
                  <a:t>）、计算成本高、前处理复杂</a:t>
                </a: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14698BB-E0BF-6BCB-A7CD-FAFF1AC1E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698" y="5560395"/>
                <a:ext cx="3898734" cy="646331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0206B5-7734-1158-0BC4-50738A31928A}"/>
              </a:ext>
            </a:extLst>
          </p:cNvPr>
          <p:cNvCxnSpPr>
            <a:cxnSpLocks/>
          </p:cNvCxnSpPr>
          <p:nvPr/>
        </p:nvCxnSpPr>
        <p:spPr>
          <a:xfrm>
            <a:off x="3950780" y="1043945"/>
            <a:ext cx="0" cy="54000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1452C84-631A-3714-DC15-D2AD5D65DBF6}"/>
              </a:ext>
            </a:extLst>
          </p:cNvPr>
          <p:cNvCxnSpPr>
            <a:cxnSpLocks/>
          </p:cNvCxnSpPr>
          <p:nvPr/>
        </p:nvCxnSpPr>
        <p:spPr>
          <a:xfrm>
            <a:off x="8198705" y="955435"/>
            <a:ext cx="0" cy="540000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9B30DE8-1554-29FA-BBCE-66F180C306AF}"/>
                  </a:ext>
                </a:extLst>
              </p:cNvPr>
              <p:cNvSpPr txBox="1"/>
              <p:nvPr/>
            </p:nvSpPr>
            <p:spPr>
              <a:xfrm>
                <a:off x="8241221" y="898537"/>
                <a:ext cx="3722176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Impulse Response Method (IRM)</a:t>
                </a:r>
              </a:p>
              <a:p>
                <a:endParaRPr lang="en-US" altLang="zh-CN" sz="1600" dirty="0"/>
              </a:p>
              <a:p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不显式构建内部动力学方程，直接利用系统对单位脉冲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solidFill>
                          <a:srgbClr val="060A26"/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响应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b="0" i="1" smtClean="0">
                        <a:solidFill>
                          <a:srgbClr val="060A26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0" i="0" dirty="0">
                    <a:solidFill>
                      <a:srgbClr val="060A26"/>
                    </a:solidFill>
                    <a:effectLst/>
                    <a:latin typeface="PingFang SC"/>
                  </a:rPr>
                  <a:t>计算任意激励响应</a:t>
                </a:r>
                <a:endParaRPr lang="en-US" altLang="zh-CN" sz="1600" b="0" i="0" dirty="0">
                  <a:solidFill>
                    <a:srgbClr val="060A26"/>
                  </a:solidFill>
                  <a:effectLst/>
                  <a:latin typeface="PingFang SC"/>
                </a:endParaRPr>
              </a:p>
              <a:p>
                <a:br>
                  <a:rPr lang="en-US" altLang="zh-CN" sz="1600" dirty="0"/>
                </a:br>
                <a:br>
                  <a:rPr lang="en-US" altLang="zh-CN" sz="1600" dirty="0"/>
                </a:br>
                <a:endParaRPr lang="zh-CN" altLang="en-US" sz="16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9B30DE8-1554-29FA-BBCE-66F180C3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221" y="898537"/>
                <a:ext cx="3722176" cy="2092881"/>
              </a:xfrm>
              <a:prstGeom prst="rect">
                <a:avLst/>
              </a:prstGeom>
              <a:blipFill>
                <a:blip r:embed="rId4"/>
                <a:stretch>
                  <a:fillRect l="-1475" t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85E7CC2F-5AA2-A963-916E-39B11DDCF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800" y="2630031"/>
            <a:ext cx="3924200" cy="223448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4ED25EC-DA80-0CB7-AF33-CC64E6DE78BE}"/>
              </a:ext>
            </a:extLst>
          </p:cNvPr>
          <p:cNvSpPr txBox="1"/>
          <p:nvPr/>
        </p:nvSpPr>
        <p:spPr>
          <a:xfrm>
            <a:off x="8409349" y="5375728"/>
            <a:ext cx="3188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绕过复杂建模、适用于实验系统、卷积计算高效（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FFT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加速）</a:t>
            </a:r>
            <a:endParaRPr lang="en-US" altLang="zh-CN" sz="1200" b="0" i="0" dirty="0">
              <a:solidFill>
                <a:srgbClr val="060A26"/>
              </a:solidFill>
              <a:effectLst/>
              <a:latin typeface="PingFang SC"/>
            </a:endParaRPr>
          </a:p>
          <a:p>
            <a:endParaRPr lang="en-US" altLang="zh-CN" sz="1200" dirty="0">
              <a:solidFill>
                <a:srgbClr val="060A26"/>
              </a:solidFill>
              <a:latin typeface="PingFang SC"/>
            </a:endParaRPr>
          </a:p>
          <a:p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仅适用于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LTI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系统；实验噪声敏感；无法直接获取内部应力</a:t>
            </a:r>
            <a:r>
              <a:rPr lang="en-US" altLang="zh-CN" sz="1200" b="0" i="0" dirty="0">
                <a:solidFill>
                  <a:srgbClr val="060A26"/>
                </a:solidFill>
                <a:effectLst/>
                <a:latin typeface="PingFang SC"/>
              </a:rPr>
              <a:t>/</a:t>
            </a:r>
            <a:r>
              <a:rPr lang="zh-CN" altLang="en-US" sz="1200" b="0" i="0" dirty="0">
                <a:solidFill>
                  <a:srgbClr val="060A26"/>
                </a:solidFill>
                <a:effectLst/>
                <a:latin typeface="PingFang SC"/>
              </a:rPr>
              <a:t>应变</a:t>
            </a:r>
            <a:endParaRPr lang="zh-CN" alt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E1DE85-F909-674F-C910-53651920B56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86" y="2498975"/>
            <a:ext cx="3737132" cy="9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7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CC5EC-50BE-CEA3-C2F8-ED9214E89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动力学建模方法综述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D237F2-81A0-C519-B87A-5A5ECBA6127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6492" y="706856"/>
            <a:ext cx="4385960" cy="2853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F7E00B-DA54-88A1-062D-E6E02334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874" y="3689438"/>
            <a:ext cx="4909015" cy="308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6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D58F-A136-AFB4-D95D-BC30402FD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集中质量法仿真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A6CD1628-11D1-404D-2E0C-234FD7D57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3487" y="842950"/>
            <a:ext cx="8105025" cy="60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7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D58F-A136-AFB4-D95D-BC30402FD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集中质量法仿真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FA11AA3-CE92-6AD4-6682-C53BAE771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5862" y="823980"/>
            <a:ext cx="8060275" cy="603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9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D58F-A136-AFB4-D95D-BC30402FD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集中质量法仿真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F16795C-14AB-CBDE-EBA0-4A96E74DB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462" y="785949"/>
            <a:ext cx="8111076" cy="607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8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D58F-A136-AFB4-D95D-BC30402FD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集中质量法仿真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E7A24BBD-7C4D-2A1B-9166-E32B5824E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811" y="811277"/>
            <a:ext cx="8000377" cy="60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8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8">
            <a:extLst>
              <a:ext uri="{FF2B5EF4-FFF2-40B4-BE49-F238E27FC236}">
                <a16:creationId xmlns:a16="http://schemas.microsoft.com/office/drawing/2014/main" id="{01967ADA-0338-50B9-8D4E-3ABEA79DFA3D}"/>
              </a:ext>
            </a:extLst>
          </p:cNvPr>
          <p:cNvSpPr txBox="1"/>
          <p:nvPr/>
        </p:nvSpPr>
        <p:spPr>
          <a:xfrm>
            <a:off x="1801177" y="2590865"/>
            <a:ext cx="8589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1837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3200" b="1" dirty="0">
              <a:solidFill>
                <a:srgbClr val="1837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66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394</Words>
  <Application>Microsoft Office PowerPoint</Application>
  <PresentationFormat>宽屏</PresentationFormat>
  <Paragraphs>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PingFang SC</vt:lpstr>
      <vt:lpstr>等线</vt:lpstr>
      <vt:lpstr>等线 Light</vt:lpstr>
      <vt:lpstr>黑体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 峻川</dc:creator>
  <cp:lastModifiedBy>Wang Renjia</cp:lastModifiedBy>
  <cp:revision>38</cp:revision>
  <dcterms:created xsi:type="dcterms:W3CDTF">2020-04-08T12:27:54Z</dcterms:created>
  <dcterms:modified xsi:type="dcterms:W3CDTF">2026-03-18T13:23:07Z</dcterms:modified>
</cp:coreProperties>
</file>